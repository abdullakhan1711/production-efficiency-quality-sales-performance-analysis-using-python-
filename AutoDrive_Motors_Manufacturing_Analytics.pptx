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132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9.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2323"/>
        </a:solidFill>
        <a:effectLst/>
      </p:bgPr>
    </p:bg>
    <p:spTree>
      <p:nvGrpSpPr>
        <p:cNvPr id="1" name=""/>
        <p:cNvGrpSpPr/>
        <p:nvPr/>
      </p:nvGrpSpPr>
      <p:grpSpPr>
        <a:xfrm>
          <a:off x="0" y="0"/>
          <a:ext cx="0" cy="0"/>
          <a:chOff x="0" y="0"/>
          <a:chExt cx="0" cy="0"/>
        </a:xfrm>
      </p:grpSpPr>
      <p:pic>
        <p:nvPicPr>
          <p:cNvPr id="2" name="Image 0" descr="/home/claude/build/icons/gears_darkred.png"/>
          <p:cNvPicPr>
            <a:picLocks noChangeAspect="1"/>
          </p:cNvPicPr>
          <p:nvPr/>
        </p:nvPicPr>
        <p:blipFill>
          <a:blip r:embed="rId3">
            <a:alphaModFix amt="45000"/>
          </a:blip>
          <a:stretch>
            <a:fillRect/>
          </a:stretch>
        </p:blipFill>
        <p:spPr>
          <a:xfrm>
            <a:off x="8183880" y="2841078"/>
            <a:ext cx="4114800" cy="4114800"/>
          </a:xfrm>
          <a:prstGeom prst="rect">
            <a:avLst/>
          </a:prstGeom>
        </p:spPr>
      </p:pic>
      <p:pic>
        <p:nvPicPr>
          <p:cNvPr id="3" name="Image 1" descr="/home/claude/build/icons/cog_darkred.png"/>
          <p:cNvPicPr>
            <a:picLocks noChangeAspect="1"/>
          </p:cNvPicPr>
          <p:nvPr/>
        </p:nvPicPr>
        <p:blipFill>
          <a:blip r:embed="rId4">
            <a:alphaModFix amt="45000"/>
          </a:blip>
          <a:stretch>
            <a:fillRect/>
          </a:stretch>
        </p:blipFill>
        <p:spPr>
          <a:xfrm>
            <a:off x="9006840" y="-68580"/>
            <a:ext cx="3291840" cy="3291840"/>
          </a:xfrm>
          <a:prstGeom prst="rect">
            <a:avLst/>
          </a:prstGeom>
        </p:spPr>
      </p:pic>
      <p:sp>
        <p:nvSpPr>
          <p:cNvPr id="4" name="Shape 0"/>
          <p:cNvSpPr/>
          <p:nvPr/>
        </p:nvSpPr>
        <p:spPr>
          <a:xfrm>
            <a:off x="640080" y="640080"/>
            <a:ext cx="822960" cy="822960"/>
          </a:xfrm>
          <a:prstGeom prst="ellipse">
            <a:avLst/>
          </a:prstGeom>
          <a:solidFill>
            <a:srgbClr val="7A2E2E"/>
          </a:solidFill>
          <a:ln/>
        </p:spPr>
      </p:sp>
      <p:pic>
        <p:nvPicPr>
          <p:cNvPr id="5" name="Image 2" descr="/home/claude/build/icons/factory_white.png"/>
          <p:cNvPicPr>
            <a:picLocks noChangeAspect="1"/>
          </p:cNvPicPr>
          <p:nvPr/>
        </p:nvPicPr>
        <p:blipFill>
          <a:blip r:embed="rId5"/>
          <a:stretch>
            <a:fillRect/>
          </a:stretch>
        </p:blipFill>
        <p:spPr>
          <a:xfrm>
            <a:off x="795528" y="795528"/>
            <a:ext cx="512064" cy="512064"/>
          </a:xfrm>
          <a:prstGeom prst="rect">
            <a:avLst/>
          </a:prstGeom>
        </p:spPr>
      </p:pic>
      <p:sp>
        <p:nvSpPr>
          <p:cNvPr id="6" name="Text 1"/>
          <p:cNvSpPr/>
          <p:nvPr/>
        </p:nvSpPr>
        <p:spPr>
          <a:xfrm>
            <a:off x="640080" y="2331720"/>
            <a:ext cx="10515600" cy="365760"/>
          </a:xfrm>
          <a:prstGeom prst="rect">
            <a:avLst/>
          </a:prstGeom>
          <a:noFill/>
          <a:ln/>
        </p:spPr>
        <p:txBody>
          <a:bodyPr wrap="square" rtlCol="0" anchor="ctr"/>
          <a:lstStyle/>
          <a:p>
            <a:pPr marL="0" indent="0">
              <a:buNone/>
            </a:pPr>
            <a:r>
              <a:rPr lang="en-US" sz="1400" b="1" kern="0" spc="300" dirty="0">
                <a:solidFill>
                  <a:srgbClr val="E9C9C2"/>
                </a:solidFill>
                <a:latin typeface="Calibri" pitchFamily="34" charset="0"/>
                <a:ea typeface="Calibri" pitchFamily="34" charset="-122"/>
                <a:cs typeface="Calibri" pitchFamily="34" charset="-120"/>
              </a:rPr>
              <a:t>MANUFACTURING ANALYTICS  •  PYTHON FOR DATA SCIENCE</a:t>
            </a:r>
            <a:endParaRPr lang="en-US" sz="1400" dirty="0"/>
          </a:p>
        </p:txBody>
      </p:sp>
      <p:sp>
        <p:nvSpPr>
          <p:cNvPr id="7" name="Text 2"/>
          <p:cNvSpPr/>
          <p:nvPr/>
        </p:nvSpPr>
        <p:spPr>
          <a:xfrm>
            <a:off x="640080" y="2697480"/>
            <a:ext cx="10515600" cy="155448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Production Efficiency, Quality &amp; Sales</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Performance Analysis</a:t>
            </a:r>
            <a:endParaRPr lang="en-US" sz="4200" dirty="0"/>
          </a:p>
        </p:txBody>
      </p:sp>
      <p:sp>
        <p:nvSpPr>
          <p:cNvPr id="8" name="Text 3"/>
          <p:cNvSpPr/>
          <p:nvPr/>
        </p:nvSpPr>
        <p:spPr>
          <a:xfrm>
            <a:off x="640080" y="4251960"/>
            <a:ext cx="9601200" cy="457200"/>
          </a:xfrm>
          <a:prstGeom prst="rect">
            <a:avLst/>
          </a:prstGeom>
          <a:noFill/>
          <a:ln/>
        </p:spPr>
        <p:txBody>
          <a:bodyPr wrap="square" rtlCol="0" anchor="ctr"/>
          <a:lstStyle/>
          <a:p>
            <a:pPr marL="0" indent="0">
              <a:buNone/>
            </a:pPr>
            <a:r>
              <a:rPr lang="en-US" sz="1500" i="1" dirty="0">
                <a:solidFill>
                  <a:srgbClr val="E9C9C2"/>
                </a:solidFill>
                <a:latin typeface="Calibri" pitchFamily="34" charset="0"/>
                <a:ea typeface="Calibri" pitchFamily="34" charset="-122"/>
                <a:cs typeface="Calibri" pitchFamily="34" charset="-120"/>
              </a:rPr>
              <a:t>A data-driven study of AutoDrive Motors Ltd. across Passenger and Commercial Vehicle plants</a:t>
            </a:r>
            <a:endParaRPr lang="en-US" sz="1500" dirty="0"/>
          </a:p>
        </p:txBody>
      </p:sp>
      <p:sp>
        <p:nvSpPr>
          <p:cNvPr id="9" name="Shape 4"/>
          <p:cNvSpPr/>
          <p:nvPr/>
        </p:nvSpPr>
        <p:spPr>
          <a:xfrm>
            <a:off x="640080" y="4892040"/>
            <a:ext cx="2926080" cy="0"/>
          </a:xfrm>
          <a:prstGeom prst="line">
            <a:avLst/>
          </a:prstGeom>
          <a:noFill/>
          <a:ln w="19050">
            <a:solidFill>
              <a:srgbClr val="E9C9C2"/>
            </a:solidFill>
            <a:prstDash val="solid"/>
          </a:ln>
        </p:spPr>
      </p:sp>
      <p:sp>
        <p:nvSpPr>
          <p:cNvPr id="10" name="Text 5"/>
          <p:cNvSpPr/>
          <p:nvPr/>
        </p:nvSpPr>
        <p:spPr>
          <a:xfrm>
            <a:off x="640080" y="5989320"/>
            <a:ext cx="100584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Prepared by : </a:t>
            </a:r>
            <a:r>
              <a:rPr lang="en-US" sz="1400" b="1" dirty="0">
                <a:solidFill>
                  <a:srgbClr val="FFFFFF"/>
                </a:solidFill>
                <a:latin typeface="Calibri" pitchFamily="34" charset="0"/>
                <a:ea typeface="Calibri" pitchFamily="34" charset="-122"/>
                <a:cs typeface="Calibri" pitchFamily="34" charset="-120"/>
              </a:rPr>
              <a:t>Mohammed Abdulla </a:t>
            </a:r>
            <a:r>
              <a:rPr lang="en-US" sz="1300" dirty="0">
                <a:solidFill>
                  <a:srgbClr val="FFFFFF"/>
                </a:solidFill>
                <a:latin typeface="Calibri" pitchFamily="34" charset="0"/>
                <a:ea typeface="Calibri" pitchFamily="34" charset="-122"/>
                <a:cs typeface="Calibri" pitchFamily="34" charset="-120"/>
              </a:rPr>
              <a:t>  |  PGDM – Business Analytics, ISME Bangalore</a:t>
            </a:r>
            <a:endParaRPr lang="en-US" sz="1300" dirty="0"/>
          </a:p>
        </p:txBody>
      </p:sp>
      <p:sp>
        <p:nvSpPr>
          <p:cNvPr id="11" name="Text 6"/>
          <p:cNvSpPr/>
          <p:nvPr/>
        </p:nvSpPr>
        <p:spPr>
          <a:xfrm>
            <a:off x="640080" y="6309360"/>
            <a:ext cx="10058400" cy="320040"/>
          </a:xfrm>
          <a:prstGeom prst="rect">
            <a:avLst/>
          </a:prstGeom>
          <a:noFill/>
          <a:ln/>
        </p:spPr>
        <p:txBody>
          <a:bodyPr wrap="square" rtlCol="0" anchor="ctr"/>
          <a:lstStyle/>
          <a:p>
            <a:pPr marL="0" indent="0">
              <a:buNone/>
            </a:pPr>
            <a:r>
              <a:rPr lang="en-US" sz="1200" dirty="0">
                <a:solidFill>
                  <a:srgbClr val="E9C9C2"/>
                </a:solidFill>
                <a:latin typeface="Calibri" pitchFamily="34" charset="0"/>
                <a:ea typeface="Calibri" pitchFamily="34" charset="-122"/>
                <a:cs typeface="Calibri" pitchFamily="34" charset="-120"/>
              </a:rPr>
              <a:t>Course : Python for Data Science  |  Company: AutoDrive Motors Ltd.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checklist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PROJECT OVERVIEW</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Objective &amp; Scope of Analysis</a:t>
            </a:r>
            <a:endParaRPr lang="en-US" sz="2700" dirty="0"/>
          </a:p>
        </p:txBody>
      </p:sp>
      <p:sp>
        <p:nvSpPr>
          <p:cNvPr id="6" name="Shape 3"/>
          <p:cNvSpPr/>
          <p:nvPr/>
        </p:nvSpPr>
        <p:spPr>
          <a:xfrm>
            <a:off x="457200" y="1234440"/>
            <a:ext cx="11247120" cy="1005840"/>
          </a:xfrm>
          <a:prstGeom prst="roundRect">
            <a:avLst>
              <a:gd name="adj" fmla="val 7273"/>
            </a:avLst>
          </a:prstGeom>
          <a:solidFill>
            <a:srgbClr val="F5EAE7"/>
          </a:solidFill>
          <a:ln w="12700">
            <a:solidFill>
              <a:srgbClr val="E9C9C2"/>
            </a:solidFill>
            <a:prstDash val="solid"/>
          </a:ln>
        </p:spPr>
      </p:sp>
      <p:sp>
        <p:nvSpPr>
          <p:cNvPr id="7" name="Text 4"/>
          <p:cNvSpPr/>
          <p:nvPr/>
        </p:nvSpPr>
        <p:spPr>
          <a:xfrm>
            <a:off x="640080" y="1344168"/>
            <a:ext cx="108813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Business Objective</a:t>
            </a:r>
            <a:endParaRPr lang="en-US" sz="1200" dirty="0"/>
          </a:p>
        </p:txBody>
      </p:sp>
      <p:sp>
        <p:nvSpPr>
          <p:cNvPr id="8" name="Text 5"/>
          <p:cNvSpPr/>
          <p:nvPr/>
        </p:nvSpPr>
        <p:spPr>
          <a:xfrm>
            <a:off x="640080" y="1636776"/>
            <a:ext cx="10881360" cy="49377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AutoDrive Motors Ltd. wants to understand how well its plants are running, how good the vehicles they build are, and how well those vehicles sell — so leadership can make smarter, data-backed decisions across Passenger (PV) and Commercial (CV) vehicle lines.</a:t>
            </a:r>
            <a:endParaRPr lang="en-US" sz="1250" dirty="0"/>
          </a:p>
        </p:txBody>
      </p:sp>
      <p:sp>
        <p:nvSpPr>
          <p:cNvPr id="9" name="Shape 6"/>
          <p:cNvSpPr/>
          <p:nvPr/>
        </p:nvSpPr>
        <p:spPr>
          <a:xfrm>
            <a:off x="457200" y="2514600"/>
            <a:ext cx="2121408" cy="3383280"/>
          </a:xfrm>
          <a:prstGeom prst="roundRect">
            <a:avLst>
              <a:gd name="adj" fmla="val 4310"/>
            </a:avLst>
          </a:prstGeom>
          <a:solidFill>
            <a:srgbClr val="FFFFFF"/>
          </a:solidFill>
          <a:ln w="12700">
            <a:solidFill>
              <a:srgbClr val="E9C9C2"/>
            </a:solidFill>
            <a:prstDash val="solid"/>
          </a:ln>
          <a:effectLst>
            <a:outerShdw blurRad="76200" dist="25400" dir="5400000" algn="bl" rotWithShape="0">
              <a:srgbClr val="5C2323">
                <a:alpha val="15000"/>
              </a:srgbClr>
            </a:outerShdw>
          </a:effectLst>
        </p:spPr>
      </p:sp>
      <p:sp>
        <p:nvSpPr>
          <p:cNvPr id="10" name="Shape 7"/>
          <p:cNvSpPr/>
          <p:nvPr/>
        </p:nvSpPr>
        <p:spPr>
          <a:xfrm>
            <a:off x="1152144" y="2834640"/>
            <a:ext cx="731520" cy="731520"/>
          </a:xfrm>
          <a:prstGeom prst="ellipse">
            <a:avLst/>
          </a:prstGeom>
          <a:solidFill>
            <a:srgbClr val="5C2323"/>
          </a:solidFill>
          <a:ln/>
        </p:spPr>
      </p:sp>
      <p:pic>
        <p:nvPicPr>
          <p:cNvPr id="11" name="Image 1" descr="/home/claude/build/icons/database_white.png"/>
          <p:cNvPicPr>
            <a:picLocks noChangeAspect="1"/>
          </p:cNvPicPr>
          <p:nvPr/>
        </p:nvPicPr>
        <p:blipFill>
          <a:blip r:embed="rId4"/>
          <a:stretch>
            <a:fillRect/>
          </a:stretch>
        </p:blipFill>
        <p:spPr>
          <a:xfrm>
            <a:off x="1298448" y="2980944"/>
            <a:ext cx="438912" cy="438912"/>
          </a:xfrm>
          <a:prstGeom prst="rect">
            <a:avLst/>
          </a:prstGeom>
        </p:spPr>
      </p:pic>
      <p:sp>
        <p:nvSpPr>
          <p:cNvPr id="12" name="Text 8"/>
          <p:cNvSpPr/>
          <p:nvPr/>
        </p:nvSpPr>
        <p:spPr>
          <a:xfrm>
            <a:off x="530352" y="2587752"/>
            <a:ext cx="365760" cy="274320"/>
          </a:xfrm>
          <a:prstGeom prst="rect">
            <a:avLst/>
          </a:prstGeom>
          <a:noFill/>
          <a:ln/>
        </p:spPr>
        <p:txBody>
          <a:bodyPr wrap="square" rtlCol="0" anchor="ctr"/>
          <a:lstStyle/>
          <a:p>
            <a:pPr marL="0" indent="0">
              <a:buNone/>
            </a:pPr>
            <a:r>
              <a:rPr lang="en-US" sz="1300" b="1" dirty="0">
                <a:solidFill>
                  <a:srgbClr val="E9C9C2"/>
                </a:solidFill>
                <a:latin typeface="Cambria" pitchFamily="34" charset="0"/>
                <a:ea typeface="Cambria" pitchFamily="34" charset="-122"/>
                <a:cs typeface="Cambria" pitchFamily="34" charset="-120"/>
              </a:rPr>
              <a:t>1</a:t>
            </a:r>
            <a:endParaRPr lang="en-US" sz="1300" dirty="0"/>
          </a:p>
        </p:txBody>
      </p:sp>
      <p:sp>
        <p:nvSpPr>
          <p:cNvPr id="13" name="Text 9"/>
          <p:cNvSpPr/>
          <p:nvPr/>
        </p:nvSpPr>
        <p:spPr>
          <a:xfrm>
            <a:off x="566928" y="3749040"/>
            <a:ext cx="1901952" cy="594360"/>
          </a:xfrm>
          <a:prstGeom prst="rect">
            <a:avLst/>
          </a:prstGeom>
          <a:noFill/>
          <a:ln/>
        </p:spPr>
        <p:txBody>
          <a:bodyPr wrap="square" rtlCol="0" anchor="t"/>
          <a:lstStyle/>
          <a:p>
            <a:pPr marL="0" indent="0" algn="ctr">
              <a:buNone/>
            </a:pPr>
            <a:r>
              <a:rPr lang="en-US" sz="1350" b="1" dirty="0">
                <a:solidFill>
                  <a:srgbClr val="2B2321"/>
                </a:solidFill>
                <a:latin typeface="Cambria" pitchFamily="34" charset="0"/>
                <a:ea typeface="Cambria" pitchFamily="34" charset="-122"/>
                <a:cs typeface="Cambria" pitchFamily="34" charset="-120"/>
              </a:rPr>
              <a:t>Data Preparation</a:t>
            </a:r>
            <a:endParaRPr lang="en-US" sz="1350" dirty="0"/>
          </a:p>
        </p:txBody>
      </p:sp>
      <p:sp>
        <p:nvSpPr>
          <p:cNvPr id="14" name="Text 10"/>
          <p:cNvSpPr/>
          <p:nvPr/>
        </p:nvSpPr>
        <p:spPr>
          <a:xfrm>
            <a:off x="594360" y="4343400"/>
            <a:ext cx="1847088" cy="1417320"/>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Load, clean, and explore the manufacturing dataset</a:t>
            </a:r>
            <a:endParaRPr lang="en-US" sz="1050" dirty="0"/>
          </a:p>
        </p:txBody>
      </p:sp>
      <p:sp>
        <p:nvSpPr>
          <p:cNvPr id="15" name="Shape 11"/>
          <p:cNvSpPr/>
          <p:nvPr/>
        </p:nvSpPr>
        <p:spPr>
          <a:xfrm>
            <a:off x="2724912" y="2514600"/>
            <a:ext cx="2121408" cy="3383280"/>
          </a:xfrm>
          <a:prstGeom prst="roundRect">
            <a:avLst>
              <a:gd name="adj" fmla="val 4310"/>
            </a:avLst>
          </a:prstGeom>
          <a:solidFill>
            <a:srgbClr val="FFFFFF"/>
          </a:solidFill>
          <a:ln w="12700">
            <a:solidFill>
              <a:srgbClr val="E9C9C2"/>
            </a:solidFill>
            <a:prstDash val="solid"/>
          </a:ln>
          <a:effectLst>
            <a:outerShdw blurRad="76200" dist="25400" dir="5400000" algn="bl" rotWithShape="0">
              <a:srgbClr val="5C2323">
                <a:alpha val="15000"/>
              </a:srgbClr>
            </a:outerShdw>
          </a:effectLst>
        </p:spPr>
      </p:sp>
      <p:sp>
        <p:nvSpPr>
          <p:cNvPr id="16" name="Shape 12"/>
          <p:cNvSpPr/>
          <p:nvPr/>
        </p:nvSpPr>
        <p:spPr>
          <a:xfrm>
            <a:off x="3419856" y="2834640"/>
            <a:ext cx="731520" cy="731520"/>
          </a:xfrm>
          <a:prstGeom prst="ellipse">
            <a:avLst/>
          </a:prstGeom>
          <a:solidFill>
            <a:srgbClr val="5C2323"/>
          </a:solidFill>
          <a:ln/>
        </p:spPr>
      </p:sp>
      <p:pic>
        <p:nvPicPr>
          <p:cNvPr id="17" name="Image 2" descr="/home/claude/build/icons/factory_white.png"/>
          <p:cNvPicPr>
            <a:picLocks noChangeAspect="1"/>
          </p:cNvPicPr>
          <p:nvPr/>
        </p:nvPicPr>
        <p:blipFill>
          <a:blip r:embed="rId5"/>
          <a:stretch>
            <a:fillRect/>
          </a:stretch>
        </p:blipFill>
        <p:spPr>
          <a:xfrm>
            <a:off x="3566160" y="2980944"/>
            <a:ext cx="438912" cy="438912"/>
          </a:xfrm>
          <a:prstGeom prst="rect">
            <a:avLst/>
          </a:prstGeom>
        </p:spPr>
      </p:pic>
      <p:sp>
        <p:nvSpPr>
          <p:cNvPr id="18" name="Text 13"/>
          <p:cNvSpPr/>
          <p:nvPr/>
        </p:nvSpPr>
        <p:spPr>
          <a:xfrm>
            <a:off x="2798064" y="2587752"/>
            <a:ext cx="365760" cy="274320"/>
          </a:xfrm>
          <a:prstGeom prst="rect">
            <a:avLst/>
          </a:prstGeom>
          <a:noFill/>
          <a:ln/>
        </p:spPr>
        <p:txBody>
          <a:bodyPr wrap="square" rtlCol="0" anchor="ctr"/>
          <a:lstStyle/>
          <a:p>
            <a:pPr marL="0" indent="0">
              <a:buNone/>
            </a:pPr>
            <a:r>
              <a:rPr lang="en-US" sz="1300" b="1" dirty="0">
                <a:solidFill>
                  <a:srgbClr val="E9C9C2"/>
                </a:solidFill>
                <a:latin typeface="Cambria" pitchFamily="34" charset="0"/>
                <a:ea typeface="Cambria" pitchFamily="34" charset="-122"/>
                <a:cs typeface="Cambria" pitchFamily="34" charset="-120"/>
              </a:rPr>
              <a:t>2</a:t>
            </a:r>
            <a:endParaRPr lang="en-US" sz="1300" dirty="0"/>
          </a:p>
        </p:txBody>
      </p:sp>
      <p:sp>
        <p:nvSpPr>
          <p:cNvPr id="19" name="Text 14"/>
          <p:cNvSpPr/>
          <p:nvPr/>
        </p:nvSpPr>
        <p:spPr>
          <a:xfrm>
            <a:off x="2834640" y="3749040"/>
            <a:ext cx="1901952" cy="594360"/>
          </a:xfrm>
          <a:prstGeom prst="rect">
            <a:avLst/>
          </a:prstGeom>
          <a:noFill/>
          <a:ln/>
        </p:spPr>
        <p:txBody>
          <a:bodyPr wrap="square" rtlCol="0" anchor="t"/>
          <a:lstStyle/>
          <a:p>
            <a:pPr marL="0" indent="0" algn="ctr">
              <a:buNone/>
            </a:pPr>
            <a:r>
              <a:rPr lang="en-US" sz="1350" b="1" dirty="0">
                <a:solidFill>
                  <a:srgbClr val="2B2321"/>
                </a:solidFill>
                <a:latin typeface="Cambria" pitchFamily="34" charset="0"/>
                <a:ea typeface="Cambria" pitchFamily="34" charset="-122"/>
                <a:cs typeface="Cambria" pitchFamily="34" charset="-120"/>
              </a:rPr>
              <a:t>Plant-wise Analysis</a:t>
            </a:r>
            <a:endParaRPr lang="en-US" sz="1350" dirty="0"/>
          </a:p>
        </p:txBody>
      </p:sp>
      <p:sp>
        <p:nvSpPr>
          <p:cNvPr id="20" name="Text 15"/>
          <p:cNvSpPr/>
          <p:nvPr/>
        </p:nvSpPr>
        <p:spPr>
          <a:xfrm>
            <a:off x="2862072" y="4343400"/>
            <a:ext cx="1847088" cy="1417320"/>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Compare output, efficiency &amp; cost across plants</a:t>
            </a:r>
            <a:endParaRPr lang="en-US" sz="1050" dirty="0"/>
          </a:p>
        </p:txBody>
      </p:sp>
      <p:sp>
        <p:nvSpPr>
          <p:cNvPr id="21" name="Shape 16"/>
          <p:cNvSpPr/>
          <p:nvPr/>
        </p:nvSpPr>
        <p:spPr>
          <a:xfrm>
            <a:off x="4992624" y="2514600"/>
            <a:ext cx="2121408" cy="3383280"/>
          </a:xfrm>
          <a:prstGeom prst="roundRect">
            <a:avLst>
              <a:gd name="adj" fmla="val 4310"/>
            </a:avLst>
          </a:prstGeom>
          <a:solidFill>
            <a:srgbClr val="FFFFFF"/>
          </a:solidFill>
          <a:ln w="12700">
            <a:solidFill>
              <a:srgbClr val="E9C9C2"/>
            </a:solidFill>
            <a:prstDash val="solid"/>
          </a:ln>
          <a:effectLst>
            <a:outerShdw blurRad="76200" dist="25400" dir="5400000" algn="bl" rotWithShape="0">
              <a:srgbClr val="5C2323">
                <a:alpha val="15000"/>
              </a:srgbClr>
            </a:outerShdw>
          </a:effectLst>
        </p:spPr>
      </p:sp>
      <p:sp>
        <p:nvSpPr>
          <p:cNvPr id="22" name="Shape 17"/>
          <p:cNvSpPr/>
          <p:nvPr/>
        </p:nvSpPr>
        <p:spPr>
          <a:xfrm>
            <a:off x="5687568" y="2834640"/>
            <a:ext cx="731520" cy="731520"/>
          </a:xfrm>
          <a:prstGeom prst="ellipse">
            <a:avLst/>
          </a:prstGeom>
          <a:solidFill>
            <a:srgbClr val="5C2323"/>
          </a:solidFill>
          <a:ln/>
        </p:spPr>
      </p:sp>
      <p:pic>
        <p:nvPicPr>
          <p:cNvPr id="23" name="Image 3" descr="/home/claude/build/icons/steering_white.png"/>
          <p:cNvPicPr>
            <a:picLocks noChangeAspect="1"/>
          </p:cNvPicPr>
          <p:nvPr/>
        </p:nvPicPr>
        <p:blipFill>
          <a:blip r:embed="rId6"/>
          <a:stretch>
            <a:fillRect/>
          </a:stretch>
        </p:blipFill>
        <p:spPr>
          <a:xfrm>
            <a:off x="5833872" y="2980944"/>
            <a:ext cx="438912" cy="438912"/>
          </a:xfrm>
          <a:prstGeom prst="rect">
            <a:avLst/>
          </a:prstGeom>
        </p:spPr>
      </p:pic>
      <p:sp>
        <p:nvSpPr>
          <p:cNvPr id="24" name="Text 18"/>
          <p:cNvSpPr/>
          <p:nvPr/>
        </p:nvSpPr>
        <p:spPr>
          <a:xfrm>
            <a:off x="5065776" y="2587752"/>
            <a:ext cx="365760" cy="274320"/>
          </a:xfrm>
          <a:prstGeom prst="rect">
            <a:avLst/>
          </a:prstGeom>
          <a:noFill/>
          <a:ln/>
        </p:spPr>
        <p:txBody>
          <a:bodyPr wrap="square" rtlCol="0" anchor="ctr"/>
          <a:lstStyle/>
          <a:p>
            <a:pPr marL="0" indent="0">
              <a:buNone/>
            </a:pPr>
            <a:r>
              <a:rPr lang="en-US" sz="1300" b="1" dirty="0">
                <a:solidFill>
                  <a:srgbClr val="E9C9C2"/>
                </a:solidFill>
                <a:latin typeface="Cambria" pitchFamily="34" charset="0"/>
                <a:ea typeface="Cambria" pitchFamily="34" charset="-122"/>
                <a:cs typeface="Cambria" pitchFamily="34" charset="-120"/>
              </a:rPr>
              <a:t>3</a:t>
            </a:r>
            <a:endParaRPr lang="en-US" sz="1300" dirty="0"/>
          </a:p>
        </p:txBody>
      </p:sp>
      <p:sp>
        <p:nvSpPr>
          <p:cNvPr id="25" name="Text 19"/>
          <p:cNvSpPr/>
          <p:nvPr/>
        </p:nvSpPr>
        <p:spPr>
          <a:xfrm>
            <a:off x="5102352" y="3749040"/>
            <a:ext cx="1901952" cy="594360"/>
          </a:xfrm>
          <a:prstGeom prst="rect">
            <a:avLst/>
          </a:prstGeom>
          <a:noFill/>
          <a:ln/>
        </p:spPr>
        <p:txBody>
          <a:bodyPr wrap="square" rtlCol="0" anchor="t"/>
          <a:lstStyle/>
          <a:p>
            <a:pPr marL="0" indent="0" algn="ctr">
              <a:buNone/>
            </a:pPr>
            <a:r>
              <a:rPr lang="en-US" sz="1350" b="1" dirty="0">
                <a:solidFill>
                  <a:srgbClr val="2B2321"/>
                </a:solidFill>
                <a:latin typeface="Cambria" pitchFamily="34" charset="0"/>
                <a:ea typeface="Cambria" pitchFamily="34" charset="-122"/>
                <a:cs typeface="Cambria" pitchFamily="34" charset="-120"/>
              </a:rPr>
              <a:t>Vehicle Category</a:t>
            </a:r>
            <a:endParaRPr lang="en-US" sz="1350" dirty="0"/>
          </a:p>
        </p:txBody>
      </p:sp>
      <p:sp>
        <p:nvSpPr>
          <p:cNvPr id="26" name="Text 20"/>
          <p:cNvSpPr/>
          <p:nvPr/>
        </p:nvSpPr>
        <p:spPr>
          <a:xfrm>
            <a:off x="5129784" y="4343400"/>
            <a:ext cx="1847088" cy="1417320"/>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PV vs CV: production, defects &amp; warranty claims</a:t>
            </a:r>
            <a:endParaRPr lang="en-US" sz="1050" dirty="0"/>
          </a:p>
        </p:txBody>
      </p:sp>
      <p:sp>
        <p:nvSpPr>
          <p:cNvPr id="27" name="Shape 21"/>
          <p:cNvSpPr/>
          <p:nvPr/>
        </p:nvSpPr>
        <p:spPr>
          <a:xfrm>
            <a:off x="7260336" y="2514600"/>
            <a:ext cx="2121408" cy="3383280"/>
          </a:xfrm>
          <a:prstGeom prst="roundRect">
            <a:avLst>
              <a:gd name="adj" fmla="val 4310"/>
            </a:avLst>
          </a:prstGeom>
          <a:solidFill>
            <a:srgbClr val="FFFFFF"/>
          </a:solidFill>
          <a:ln w="12700">
            <a:solidFill>
              <a:srgbClr val="E9C9C2"/>
            </a:solidFill>
            <a:prstDash val="solid"/>
          </a:ln>
          <a:effectLst>
            <a:outerShdw blurRad="76200" dist="25400" dir="5400000" algn="bl" rotWithShape="0">
              <a:srgbClr val="5C2323">
                <a:alpha val="15000"/>
              </a:srgbClr>
            </a:outerShdw>
          </a:effectLst>
        </p:spPr>
      </p:sp>
      <p:sp>
        <p:nvSpPr>
          <p:cNvPr id="28" name="Shape 22"/>
          <p:cNvSpPr/>
          <p:nvPr/>
        </p:nvSpPr>
        <p:spPr>
          <a:xfrm>
            <a:off x="7955280" y="2834640"/>
            <a:ext cx="731520" cy="731520"/>
          </a:xfrm>
          <a:prstGeom prst="ellipse">
            <a:avLst/>
          </a:prstGeom>
          <a:solidFill>
            <a:srgbClr val="5C2323"/>
          </a:solidFill>
          <a:ln/>
        </p:spPr>
      </p:sp>
      <p:pic>
        <p:nvPicPr>
          <p:cNvPr id="29" name="Image 4" descr="/home/claude/build/icons/magnify_white.png"/>
          <p:cNvPicPr>
            <a:picLocks noChangeAspect="1"/>
          </p:cNvPicPr>
          <p:nvPr/>
        </p:nvPicPr>
        <p:blipFill>
          <a:blip r:embed="rId7"/>
          <a:stretch>
            <a:fillRect/>
          </a:stretch>
        </p:blipFill>
        <p:spPr>
          <a:xfrm>
            <a:off x="8101584" y="2980944"/>
            <a:ext cx="438912" cy="438912"/>
          </a:xfrm>
          <a:prstGeom prst="rect">
            <a:avLst/>
          </a:prstGeom>
        </p:spPr>
      </p:pic>
      <p:sp>
        <p:nvSpPr>
          <p:cNvPr id="30" name="Text 23"/>
          <p:cNvSpPr/>
          <p:nvPr/>
        </p:nvSpPr>
        <p:spPr>
          <a:xfrm>
            <a:off x="7333488" y="2587752"/>
            <a:ext cx="365760" cy="274320"/>
          </a:xfrm>
          <a:prstGeom prst="rect">
            <a:avLst/>
          </a:prstGeom>
          <a:noFill/>
          <a:ln/>
        </p:spPr>
        <p:txBody>
          <a:bodyPr wrap="square" rtlCol="0" anchor="ctr"/>
          <a:lstStyle/>
          <a:p>
            <a:pPr marL="0" indent="0">
              <a:buNone/>
            </a:pPr>
            <a:r>
              <a:rPr lang="en-US" sz="1300" b="1" dirty="0">
                <a:solidFill>
                  <a:srgbClr val="E9C9C2"/>
                </a:solidFill>
                <a:latin typeface="Cambria" pitchFamily="34" charset="0"/>
                <a:ea typeface="Cambria" pitchFamily="34" charset="-122"/>
                <a:cs typeface="Cambria" pitchFamily="34" charset="-120"/>
              </a:rPr>
              <a:t>4</a:t>
            </a:r>
            <a:endParaRPr lang="en-US" sz="1300" dirty="0"/>
          </a:p>
        </p:txBody>
      </p:sp>
      <p:sp>
        <p:nvSpPr>
          <p:cNvPr id="31" name="Text 24"/>
          <p:cNvSpPr/>
          <p:nvPr/>
        </p:nvSpPr>
        <p:spPr>
          <a:xfrm>
            <a:off x="7370064" y="3749040"/>
            <a:ext cx="1901952" cy="594360"/>
          </a:xfrm>
          <a:prstGeom prst="rect">
            <a:avLst/>
          </a:prstGeom>
          <a:noFill/>
          <a:ln/>
        </p:spPr>
        <p:txBody>
          <a:bodyPr wrap="square" rtlCol="0" anchor="t"/>
          <a:lstStyle/>
          <a:p>
            <a:pPr marL="0" indent="0" algn="ctr">
              <a:buNone/>
            </a:pPr>
            <a:r>
              <a:rPr lang="en-US" sz="1350" b="1" dirty="0">
                <a:solidFill>
                  <a:srgbClr val="2B2321"/>
                </a:solidFill>
                <a:latin typeface="Cambria" pitchFamily="34" charset="0"/>
                <a:ea typeface="Cambria" pitchFamily="34" charset="-122"/>
                <a:cs typeface="Cambria" pitchFamily="34" charset="-120"/>
              </a:rPr>
              <a:t>Quality Analysis</a:t>
            </a:r>
            <a:endParaRPr lang="en-US" sz="1350" dirty="0"/>
          </a:p>
        </p:txBody>
      </p:sp>
      <p:sp>
        <p:nvSpPr>
          <p:cNvPr id="32" name="Text 25"/>
          <p:cNvSpPr/>
          <p:nvPr/>
        </p:nvSpPr>
        <p:spPr>
          <a:xfrm>
            <a:off x="7397496" y="4343400"/>
            <a:ext cx="1847088" cy="1417320"/>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Cost vs defects, inspection scores by plant</a:t>
            </a:r>
            <a:endParaRPr lang="en-US" sz="1050" dirty="0"/>
          </a:p>
        </p:txBody>
      </p:sp>
      <p:sp>
        <p:nvSpPr>
          <p:cNvPr id="33" name="Shape 26"/>
          <p:cNvSpPr/>
          <p:nvPr/>
        </p:nvSpPr>
        <p:spPr>
          <a:xfrm>
            <a:off x="9528048" y="2514600"/>
            <a:ext cx="2121408" cy="3383280"/>
          </a:xfrm>
          <a:prstGeom prst="roundRect">
            <a:avLst>
              <a:gd name="adj" fmla="val 4310"/>
            </a:avLst>
          </a:prstGeom>
          <a:solidFill>
            <a:srgbClr val="FFFFFF"/>
          </a:solidFill>
          <a:ln w="12700">
            <a:solidFill>
              <a:srgbClr val="E9C9C2"/>
            </a:solidFill>
            <a:prstDash val="solid"/>
          </a:ln>
          <a:effectLst>
            <a:outerShdw blurRad="76200" dist="25400" dir="5400000" algn="bl" rotWithShape="0">
              <a:srgbClr val="5C2323">
                <a:alpha val="15000"/>
              </a:srgbClr>
            </a:outerShdw>
          </a:effectLst>
        </p:spPr>
      </p:sp>
      <p:sp>
        <p:nvSpPr>
          <p:cNvPr id="34" name="Shape 27"/>
          <p:cNvSpPr/>
          <p:nvPr/>
        </p:nvSpPr>
        <p:spPr>
          <a:xfrm>
            <a:off x="10222992" y="2834640"/>
            <a:ext cx="731520" cy="731520"/>
          </a:xfrm>
          <a:prstGeom prst="ellipse">
            <a:avLst/>
          </a:prstGeom>
          <a:solidFill>
            <a:srgbClr val="5C2323"/>
          </a:solidFill>
          <a:ln/>
        </p:spPr>
      </p:sp>
      <p:pic>
        <p:nvPicPr>
          <p:cNvPr id="35" name="Image 5" descr="/home/claude/build/icons/speedometer_white.png"/>
          <p:cNvPicPr>
            <a:picLocks noChangeAspect="1"/>
          </p:cNvPicPr>
          <p:nvPr/>
        </p:nvPicPr>
        <p:blipFill>
          <a:blip r:embed="rId8"/>
          <a:stretch>
            <a:fillRect/>
          </a:stretch>
        </p:blipFill>
        <p:spPr>
          <a:xfrm>
            <a:off x="10369296" y="2980944"/>
            <a:ext cx="438912" cy="438912"/>
          </a:xfrm>
          <a:prstGeom prst="rect">
            <a:avLst/>
          </a:prstGeom>
        </p:spPr>
      </p:pic>
      <p:sp>
        <p:nvSpPr>
          <p:cNvPr id="36" name="Text 28"/>
          <p:cNvSpPr/>
          <p:nvPr/>
        </p:nvSpPr>
        <p:spPr>
          <a:xfrm>
            <a:off x="9601200" y="2587752"/>
            <a:ext cx="365760" cy="274320"/>
          </a:xfrm>
          <a:prstGeom prst="rect">
            <a:avLst/>
          </a:prstGeom>
          <a:noFill/>
          <a:ln/>
        </p:spPr>
        <p:txBody>
          <a:bodyPr wrap="square" rtlCol="0" anchor="ctr"/>
          <a:lstStyle/>
          <a:p>
            <a:pPr marL="0" indent="0">
              <a:buNone/>
            </a:pPr>
            <a:r>
              <a:rPr lang="en-US" sz="1300" b="1" dirty="0">
                <a:solidFill>
                  <a:srgbClr val="E9C9C2"/>
                </a:solidFill>
                <a:latin typeface="Cambria" pitchFamily="34" charset="0"/>
                <a:ea typeface="Cambria" pitchFamily="34" charset="-122"/>
                <a:cs typeface="Cambria" pitchFamily="34" charset="-120"/>
              </a:rPr>
              <a:t>5</a:t>
            </a:r>
            <a:endParaRPr lang="en-US" sz="1300" dirty="0"/>
          </a:p>
        </p:txBody>
      </p:sp>
      <p:sp>
        <p:nvSpPr>
          <p:cNvPr id="37" name="Text 29"/>
          <p:cNvSpPr/>
          <p:nvPr/>
        </p:nvSpPr>
        <p:spPr>
          <a:xfrm>
            <a:off x="9637776" y="3749040"/>
            <a:ext cx="1901952" cy="594360"/>
          </a:xfrm>
          <a:prstGeom prst="rect">
            <a:avLst/>
          </a:prstGeom>
          <a:noFill/>
          <a:ln/>
        </p:spPr>
        <p:txBody>
          <a:bodyPr wrap="square" rtlCol="0" anchor="t"/>
          <a:lstStyle/>
          <a:p>
            <a:pPr marL="0" indent="0" algn="ctr">
              <a:buNone/>
            </a:pPr>
            <a:r>
              <a:rPr lang="en-US" sz="1350" b="1" dirty="0">
                <a:solidFill>
                  <a:srgbClr val="2B2321"/>
                </a:solidFill>
                <a:latin typeface="Cambria" pitchFamily="34" charset="0"/>
                <a:ea typeface="Cambria" pitchFamily="34" charset="-122"/>
                <a:cs typeface="Cambria" pitchFamily="34" charset="-120"/>
              </a:rPr>
              <a:t>Production Trend</a:t>
            </a:r>
            <a:endParaRPr lang="en-US" sz="1350" dirty="0"/>
          </a:p>
        </p:txBody>
      </p:sp>
      <p:sp>
        <p:nvSpPr>
          <p:cNvPr id="38" name="Text 30"/>
          <p:cNvSpPr/>
          <p:nvPr/>
        </p:nvSpPr>
        <p:spPr>
          <a:xfrm>
            <a:off x="9665208" y="4343400"/>
            <a:ext cx="1847088" cy="1417320"/>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Monthly output over a two-year period</a:t>
            </a:r>
            <a:endParaRPr lang="en-US" sz="1050" dirty="0"/>
          </a:p>
        </p:txBody>
      </p:sp>
      <p:sp>
        <p:nvSpPr>
          <p:cNvPr id="39" name="Text 3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40" name="Text 3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database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1</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Data Preparation</a:t>
            </a:r>
            <a:endParaRPr lang="en-US" sz="2700" dirty="0"/>
          </a:p>
        </p:txBody>
      </p:sp>
      <p:sp>
        <p:nvSpPr>
          <p:cNvPr id="6" name="Shape 3"/>
          <p:cNvSpPr/>
          <p:nvPr/>
        </p:nvSpPr>
        <p:spPr>
          <a:xfrm>
            <a:off x="457200" y="1280160"/>
            <a:ext cx="1737360" cy="1051560"/>
          </a:xfrm>
          <a:prstGeom prst="roundRect">
            <a:avLst>
              <a:gd name="adj" fmla="val 6957"/>
            </a:avLst>
          </a:prstGeom>
          <a:solidFill>
            <a:srgbClr val="FFFFFF"/>
          </a:solidFill>
          <a:ln w="12700">
            <a:solidFill>
              <a:srgbClr val="E9C9C2"/>
            </a:solidFill>
            <a:prstDash val="solid"/>
          </a:ln>
        </p:spPr>
      </p:sp>
      <p:sp>
        <p:nvSpPr>
          <p:cNvPr id="7" name="Text 4"/>
          <p:cNvSpPr/>
          <p:nvPr/>
        </p:nvSpPr>
        <p:spPr>
          <a:xfrm>
            <a:off x="457200" y="1371600"/>
            <a:ext cx="1737360" cy="578358"/>
          </a:xfrm>
          <a:prstGeom prst="rect">
            <a:avLst/>
          </a:prstGeom>
          <a:noFill/>
          <a:ln/>
        </p:spPr>
        <p:txBody>
          <a:bodyPr wrap="square" rtlCol="0" anchor="ctr"/>
          <a:lstStyle/>
          <a:p>
            <a:pPr marL="0" indent="0" algn="ctr">
              <a:buNone/>
            </a:pPr>
            <a:r>
              <a:rPr lang="en-US" sz="2600" b="1" dirty="0">
                <a:solidFill>
                  <a:srgbClr val="5C2323"/>
                </a:solidFill>
                <a:latin typeface="Cambria" pitchFamily="34" charset="0"/>
                <a:ea typeface="Cambria" pitchFamily="34" charset="-122"/>
                <a:cs typeface="Cambria" pitchFamily="34" charset="-120"/>
              </a:rPr>
              <a:t>1,200</a:t>
            </a:r>
            <a:endParaRPr lang="en-US" sz="2600" dirty="0"/>
          </a:p>
        </p:txBody>
      </p:sp>
      <p:sp>
        <p:nvSpPr>
          <p:cNvPr id="8" name="Text 5"/>
          <p:cNvSpPr/>
          <p:nvPr/>
        </p:nvSpPr>
        <p:spPr>
          <a:xfrm>
            <a:off x="548640" y="1911096"/>
            <a:ext cx="1554480" cy="399593"/>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vehicle production records</a:t>
            </a:r>
            <a:endParaRPr lang="en-US" sz="1050" dirty="0"/>
          </a:p>
        </p:txBody>
      </p:sp>
      <p:sp>
        <p:nvSpPr>
          <p:cNvPr id="9" name="Shape 6"/>
          <p:cNvSpPr/>
          <p:nvPr/>
        </p:nvSpPr>
        <p:spPr>
          <a:xfrm>
            <a:off x="2331720" y="1280160"/>
            <a:ext cx="1737360" cy="1051560"/>
          </a:xfrm>
          <a:prstGeom prst="roundRect">
            <a:avLst>
              <a:gd name="adj" fmla="val 6957"/>
            </a:avLst>
          </a:prstGeom>
          <a:solidFill>
            <a:srgbClr val="FFFFFF"/>
          </a:solidFill>
          <a:ln w="12700">
            <a:solidFill>
              <a:srgbClr val="E9C9C2"/>
            </a:solidFill>
            <a:prstDash val="solid"/>
          </a:ln>
        </p:spPr>
      </p:sp>
      <p:sp>
        <p:nvSpPr>
          <p:cNvPr id="10" name="Text 7"/>
          <p:cNvSpPr/>
          <p:nvPr/>
        </p:nvSpPr>
        <p:spPr>
          <a:xfrm>
            <a:off x="2331720" y="1371600"/>
            <a:ext cx="1737360" cy="578358"/>
          </a:xfrm>
          <a:prstGeom prst="rect">
            <a:avLst/>
          </a:prstGeom>
          <a:noFill/>
          <a:ln/>
        </p:spPr>
        <p:txBody>
          <a:bodyPr wrap="square" rtlCol="0" anchor="ctr"/>
          <a:lstStyle/>
          <a:p>
            <a:pPr marL="0" indent="0" algn="ctr">
              <a:buNone/>
            </a:pPr>
            <a:r>
              <a:rPr lang="en-US" sz="2600" b="1" dirty="0">
                <a:solidFill>
                  <a:srgbClr val="5C2323"/>
                </a:solidFill>
                <a:latin typeface="Cambria" pitchFamily="34" charset="0"/>
                <a:ea typeface="Cambria" pitchFamily="34" charset="-122"/>
                <a:cs typeface="Cambria" pitchFamily="34" charset="-120"/>
              </a:rPr>
              <a:t>15</a:t>
            </a:r>
            <a:endParaRPr lang="en-US" sz="2600" dirty="0"/>
          </a:p>
        </p:txBody>
      </p:sp>
      <p:sp>
        <p:nvSpPr>
          <p:cNvPr id="11" name="Text 8"/>
          <p:cNvSpPr/>
          <p:nvPr/>
        </p:nvSpPr>
        <p:spPr>
          <a:xfrm>
            <a:off x="2423160" y="1911096"/>
            <a:ext cx="1554480" cy="399593"/>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columns of manufacturing &amp; sales data</a:t>
            </a:r>
            <a:endParaRPr lang="en-US" sz="1050" dirty="0"/>
          </a:p>
        </p:txBody>
      </p:sp>
      <p:sp>
        <p:nvSpPr>
          <p:cNvPr id="12" name="Shape 9"/>
          <p:cNvSpPr/>
          <p:nvPr/>
        </p:nvSpPr>
        <p:spPr>
          <a:xfrm>
            <a:off x="4206240" y="1280160"/>
            <a:ext cx="1737360" cy="1051560"/>
          </a:xfrm>
          <a:prstGeom prst="roundRect">
            <a:avLst>
              <a:gd name="adj" fmla="val 6957"/>
            </a:avLst>
          </a:prstGeom>
          <a:solidFill>
            <a:srgbClr val="FFFFFF"/>
          </a:solidFill>
          <a:ln w="12700">
            <a:solidFill>
              <a:srgbClr val="E9C9C2"/>
            </a:solidFill>
            <a:prstDash val="solid"/>
          </a:ln>
        </p:spPr>
      </p:sp>
      <p:sp>
        <p:nvSpPr>
          <p:cNvPr id="13" name="Text 10"/>
          <p:cNvSpPr/>
          <p:nvPr/>
        </p:nvSpPr>
        <p:spPr>
          <a:xfrm>
            <a:off x="4206240" y="1371600"/>
            <a:ext cx="1737360" cy="578358"/>
          </a:xfrm>
          <a:prstGeom prst="rect">
            <a:avLst/>
          </a:prstGeom>
          <a:noFill/>
          <a:ln/>
        </p:spPr>
        <p:txBody>
          <a:bodyPr wrap="square" rtlCol="0" anchor="ctr"/>
          <a:lstStyle/>
          <a:p>
            <a:pPr marL="0" indent="0" algn="ctr">
              <a:buNone/>
            </a:pPr>
            <a:r>
              <a:rPr lang="en-US" sz="2600" b="1" dirty="0">
                <a:solidFill>
                  <a:srgbClr val="5C2323"/>
                </a:solidFill>
                <a:latin typeface="Cambria" pitchFamily="34" charset="0"/>
                <a:ea typeface="Cambria" pitchFamily="34" charset="-122"/>
                <a:cs typeface="Cambria" pitchFamily="34" charset="-120"/>
              </a:rPr>
              <a:t>0</a:t>
            </a:r>
            <a:endParaRPr lang="en-US" sz="2600" dirty="0"/>
          </a:p>
        </p:txBody>
      </p:sp>
      <p:sp>
        <p:nvSpPr>
          <p:cNvPr id="14" name="Text 11"/>
          <p:cNvSpPr/>
          <p:nvPr/>
        </p:nvSpPr>
        <p:spPr>
          <a:xfrm>
            <a:off x="4297680" y="1911096"/>
            <a:ext cx="1554480" cy="399593"/>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missing values found</a:t>
            </a:r>
            <a:endParaRPr lang="en-US" sz="1050" dirty="0"/>
          </a:p>
        </p:txBody>
      </p:sp>
      <p:sp>
        <p:nvSpPr>
          <p:cNvPr id="15" name="Shape 12"/>
          <p:cNvSpPr/>
          <p:nvPr/>
        </p:nvSpPr>
        <p:spPr>
          <a:xfrm>
            <a:off x="6080760" y="1280160"/>
            <a:ext cx="1737360" cy="1051560"/>
          </a:xfrm>
          <a:prstGeom prst="roundRect">
            <a:avLst>
              <a:gd name="adj" fmla="val 6957"/>
            </a:avLst>
          </a:prstGeom>
          <a:solidFill>
            <a:srgbClr val="FFFFFF"/>
          </a:solidFill>
          <a:ln w="12700">
            <a:solidFill>
              <a:srgbClr val="E9C9C2"/>
            </a:solidFill>
            <a:prstDash val="solid"/>
          </a:ln>
        </p:spPr>
      </p:sp>
      <p:sp>
        <p:nvSpPr>
          <p:cNvPr id="16" name="Text 13"/>
          <p:cNvSpPr/>
          <p:nvPr/>
        </p:nvSpPr>
        <p:spPr>
          <a:xfrm>
            <a:off x="6080760" y="1371600"/>
            <a:ext cx="1737360" cy="578358"/>
          </a:xfrm>
          <a:prstGeom prst="rect">
            <a:avLst/>
          </a:prstGeom>
          <a:noFill/>
          <a:ln/>
        </p:spPr>
        <p:txBody>
          <a:bodyPr wrap="square" rtlCol="0" anchor="ctr"/>
          <a:lstStyle/>
          <a:p>
            <a:pPr marL="0" indent="0" algn="ctr">
              <a:buNone/>
            </a:pPr>
            <a:r>
              <a:rPr lang="en-US" sz="2600" b="1" dirty="0">
                <a:solidFill>
                  <a:srgbClr val="5C2323"/>
                </a:solidFill>
                <a:latin typeface="Cambria" pitchFamily="34" charset="0"/>
                <a:ea typeface="Cambria" pitchFamily="34" charset="-122"/>
                <a:cs typeface="Cambria" pitchFamily="34" charset="-120"/>
              </a:rPr>
              <a:t>0</a:t>
            </a:r>
            <a:endParaRPr lang="en-US" sz="2600" dirty="0"/>
          </a:p>
        </p:txBody>
      </p:sp>
      <p:sp>
        <p:nvSpPr>
          <p:cNvPr id="17" name="Text 14"/>
          <p:cNvSpPr/>
          <p:nvPr/>
        </p:nvSpPr>
        <p:spPr>
          <a:xfrm>
            <a:off x="6172200" y="1911096"/>
            <a:ext cx="1554480" cy="399593"/>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duplicate rows found</a:t>
            </a:r>
            <a:endParaRPr lang="en-US" sz="1050" dirty="0"/>
          </a:p>
        </p:txBody>
      </p:sp>
      <p:sp>
        <p:nvSpPr>
          <p:cNvPr id="18" name="Shape 15"/>
          <p:cNvSpPr/>
          <p:nvPr/>
        </p:nvSpPr>
        <p:spPr>
          <a:xfrm>
            <a:off x="7955280" y="1280160"/>
            <a:ext cx="3749040" cy="1051560"/>
          </a:xfrm>
          <a:prstGeom prst="roundRect">
            <a:avLst>
              <a:gd name="adj" fmla="val 6957"/>
            </a:avLst>
          </a:prstGeom>
          <a:solidFill>
            <a:srgbClr val="FFFFFF"/>
          </a:solidFill>
          <a:ln w="12700">
            <a:solidFill>
              <a:srgbClr val="E9C9C2"/>
            </a:solidFill>
            <a:prstDash val="solid"/>
          </a:ln>
        </p:spPr>
      </p:sp>
      <p:sp>
        <p:nvSpPr>
          <p:cNvPr id="19" name="Text 16"/>
          <p:cNvSpPr/>
          <p:nvPr/>
        </p:nvSpPr>
        <p:spPr>
          <a:xfrm>
            <a:off x="7955280" y="1371600"/>
            <a:ext cx="3749040" cy="578358"/>
          </a:xfrm>
          <a:prstGeom prst="rect">
            <a:avLst/>
          </a:prstGeom>
          <a:noFill/>
          <a:ln/>
        </p:spPr>
        <p:txBody>
          <a:bodyPr wrap="square" rtlCol="0" anchor="ctr"/>
          <a:lstStyle/>
          <a:p>
            <a:pPr marL="0" indent="0" algn="ctr">
              <a:buNone/>
            </a:pPr>
            <a:r>
              <a:rPr lang="en-US" sz="2600" b="1" dirty="0">
                <a:solidFill>
                  <a:srgbClr val="4A4A4A"/>
                </a:solidFill>
                <a:latin typeface="Cambria" pitchFamily="34" charset="0"/>
                <a:ea typeface="Cambria" pitchFamily="34" charset="-122"/>
                <a:cs typeface="Cambria" pitchFamily="34" charset="-120"/>
              </a:rPr>
              <a:t>4 Plants</a:t>
            </a:r>
            <a:endParaRPr lang="en-US" sz="2600" dirty="0"/>
          </a:p>
        </p:txBody>
      </p:sp>
      <p:sp>
        <p:nvSpPr>
          <p:cNvPr id="20" name="Text 17"/>
          <p:cNvSpPr/>
          <p:nvPr/>
        </p:nvSpPr>
        <p:spPr>
          <a:xfrm>
            <a:off x="8046720" y="1911096"/>
            <a:ext cx="3566160" cy="399593"/>
          </a:xfrm>
          <a:prstGeom prst="rect">
            <a:avLst/>
          </a:prstGeom>
          <a:noFill/>
          <a:ln/>
        </p:spPr>
        <p:txBody>
          <a:bodyPr wrap="square" rtlCol="0" anchor="t"/>
          <a:lstStyle/>
          <a:p>
            <a:pPr marL="0" indent="0" algn="ctr">
              <a:buNone/>
            </a:pPr>
            <a:r>
              <a:rPr lang="en-US" sz="1050" dirty="0">
                <a:solidFill>
                  <a:srgbClr val="6B5E5A"/>
                </a:solidFill>
                <a:latin typeface="Calibri" pitchFamily="34" charset="0"/>
                <a:ea typeface="Calibri" pitchFamily="34" charset="-122"/>
                <a:cs typeface="Calibri" pitchFamily="34" charset="-120"/>
              </a:rPr>
              <a:t>Plant A, B, C, D  |  2 Vehicle Types: PV &amp; CV</a:t>
            </a:r>
            <a:endParaRPr lang="en-US" sz="1050" dirty="0"/>
          </a:p>
        </p:txBody>
      </p:sp>
      <p:sp>
        <p:nvSpPr>
          <p:cNvPr id="21" name="Shape 18"/>
          <p:cNvSpPr/>
          <p:nvPr/>
        </p:nvSpPr>
        <p:spPr>
          <a:xfrm>
            <a:off x="457200" y="2606040"/>
            <a:ext cx="5577840" cy="1965960"/>
          </a:xfrm>
          <a:prstGeom prst="roundRect">
            <a:avLst>
              <a:gd name="adj" fmla="val 3721"/>
            </a:avLst>
          </a:prstGeom>
          <a:solidFill>
            <a:srgbClr val="2B2321"/>
          </a:solidFill>
          <a:ln/>
          <a:effectLst>
            <a:outerShdw blurRad="76200" dist="25400" dir="5400000" algn="bl" rotWithShape="0">
              <a:srgbClr val="000000">
                <a:alpha val="25000"/>
              </a:srgbClr>
            </a:outerShdw>
          </a:effectLst>
        </p:spPr>
      </p:sp>
      <p:sp>
        <p:nvSpPr>
          <p:cNvPr id="22" name="Text 19"/>
          <p:cNvSpPr/>
          <p:nvPr/>
        </p:nvSpPr>
        <p:spPr>
          <a:xfrm>
            <a:off x="594360" y="2679192"/>
            <a:ext cx="5303520" cy="228600"/>
          </a:xfrm>
          <a:prstGeom prst="rect">
            <a:avLst/>
          </a:prstGeom>
          <a:noFill/>
          <a:ln/>
        </p:spPr>
        <p:txBody>
          <a:bodyPr wrap="square" rtlCol="0" anchor="ctr"/>
          <a:lstStyle/>
          <a:p>
            <a:pPr marL="0" indent="0">
              <a:buNone/>
            </a:pPr>
            <a:r>
              <a:rPr lang="en-US" sz="950" b="1" dirty="0">
                <a:solidFill>
                  <a:srgbClr val="E9C9C2"/>
                </a:solidFill>
                <a:latin typeface="Calibri" pitchFamily="34" charset="0"/>
                <a:ea typeface="Calibri" pitchFamily="34" charset="-122"/>
                <a:cs typeface="Calibri" pitchFamily="34" charset="-120"/>
              </a:rPr>
              <a:t>load_and_check.py</a:t>
            </a:r>
            <a:endParaRPr lang="en-US" sz="950" dirty="0"/>
          </a:p>
        </p:txBody>
      </p:sp>
      <p:sp>
        <p:nvSpPr>
          <p:cNvPr id="23" name="Text 20"/>
          <p:cNvSpPr/>
          <p:nvPr/>
        </p:nvSpPr>
        <p:spPr>
          <a:xfrm>
            <a:off x="594360" y="2926080"/>
            <a:ext cx="5303520" cy="1554480"/>
          </a:xfrm>
          <a:prstGeom prst="rect">
            <a:avLst/>
          </a:prstGeom>
          <a:noFill/>
          <a:ln/>
        </p:spPr>
        <p:txBody>
          <a:bodyPr wrap="square" rtlCol="0" anchor="t"/>
          <a:lstStyle/>
          <a:p>
            <a:pPr marL="0" indent="0">
              <a:lnSpc>
                <a:spcPct val="112000"/>
              </a:lnSpc>
              <a:buNone/>
            </a:pPr>
            <a:r>
              <a:rPr lang="en-US" sz="1050" dirty="0">
                <a:solidFill>
                  <a:srgbClr val="F2E9E7"/>
                </a:solidFill>
                <a:latin typeface="Consolas" pitchFamily="34" charset="0"/>
                <a:ea typeface="Consolas" pitchFamily="34" charset="-122"/>
                <a:cs typeface="Consolas" pitchFamily="34" charset="-120"/>
              </a:rPr>
              <a:t>df = pd.read_csv("AutoDrive_Motors_Manufacturing_Dataset_1200.csv")</a:t>
            </a:r>
            <a:endParaRPr lang="en-US" sz="1050" dirty="0"/>
          </a:p>
          <a:p>
            <a:pPr marL="0" indent="0">
              <a:lnSpc>
                <a:spcPct val="112000"/>
              </a:lnSpc>
              <a:buNone/>
            </a:pPr>
            <a:endParaRPr lang="en-US" sz="1050" dirty="0"/>
          </a:p>
          <a:p>
            <a:pPr marL="0" indent="0">
              <a:lnSpc>
                <a:spcPct val="112000"/>
              </a:lnSpc>
              <a:buNone/>
            </a:pPr>
            <a:r>
              <a:rPr lang="en-US" sz="1050" dirty="0">
                <a:solidFill>
                  <a:srgbClr val="F2E9E7"/>
                </a:solidFill>
                <a:latin typeface="Consolas" pitchFamily="34" charset="0"/>
                <a:ea typeface="Consolas" pitchFamily="34" charset="-122"/>
                <a:cs typeface="Consolas" pitchFamily="34" charset="-120"/>
              </a:rPr>
              <a:t>print("Missing Values:")</a:t>
            </a:r>
            <a:endParaRPr lang="en-US" sz="1050" dirty="0"/>
          </a:p>
          <a:p>
            <a:pPr marL="0" indent="0">
              <a:lnSpc>
                <a:spcPct val="112000"/>
              </a:lnSpc>
              <a:buNone/>
            </a:pPr>
            <a:r>
              <a:rPr lang="en-US" sz="1050" dirty="0">
                <a:solidFill>
                  <a:srgbClr val="F2E9E7"/>
                </a:solidFill>
                <a:latin typeface="Consolas" pitchFamily="34" charset="0"/>
                <a:ea typeface="Consolas" pitchFamily="34" charset="-122"/>
                <a:cs typeface="Consolas" pitchFamily="34" charset="-120"/>
              </a:rPr>
              <a:t>print(df.isnull().sum())</a:t>
            </a:r>
            <a:endParaRPr lang="en-US" sz="1050" dirty="0"/>
          </a:p>
          <a:p>
            <a:pPr marL="0" indent="0">
              <a:lnSpc>
                <a:spcPct val="112000"/>
              </a:lnSpc>
              <a:buNone/>
            </a:pPr>
            <a:r>
              <a:rPr lang="en-US" sz="1050" dirty="0">
                <a:solidFill>
                  <a:srgbClr val="F2E9E7"/>
                </a:solidFill>
                <a:latin typeface="Consolas" pitchFamily="34" charset="0"/>
                <a:ea typeface="Consolas" pitchFamily="34" charset="-122"/>
                <a:cs typeface="Consolas" pitchFamily="34" charset="-120"/>
              </a:rPr>
              <a:t>print("Duplicate Rows:", df.duplicated().sum())</a:t>
            </a:r>
            <a:endParaRPr lang="en-US" sz="1050" dirty="0"/>
          </a:p>
        </p:txBody>
      </p:sp>
      <p:sp>
        <p:nvSpPr>
          <p:cNvPr id="24" name="Shape 21"/>
          <p:cNvSpPr/>
          <p:nvPr/>
        </p:nvSpPr>
        <p:spPr>
          <a:xfrm>
            <a:off x="457200" y="4709160"/>
            <a:ext cx="11247120" cy="1600200"/>
          </a:xfrm>
          <a:prstGeom prst="roundRect">
            <a:avLst>
              <a:gd name="adj" fmla="val 4571"/>
            </a:avLst>
          </a:prstGeom>
          <a:solidFill>
            <a:srgbClr val="F5EAE7"/>
          </a:solidFill>
          <a:ln w="12700">
            <a:solidFill>
              <a:srgbClr val="E9C9C2"/>
            </a:solidFill>
            <a:prstDash val="solid"/>
          </a:ln>
        </p:spPr>
      </p:sp>
      <p:sp>
        <p:nvSpPr>
          <p:cNvPr id="25" name="Text 22"/>
          <p:cNvSpPr/>
          <p:nvPr/>
        </p:nvSpPr>
        <p:spPr>
          <a:xfrm>
            <a:off x="640080" y="4818888"/>
            <a:ext cx="108813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 &amp; Business Insight</a:t>
            </a:r>
            <a:endParaRPr lang="en-US" sz="1200" dirty="0"/>
          </a:p>
        </p:txBody>
      </p:sp>
      <p:sp>
        <p:nvSpPr>
          <p:cNvPr id="26" name="Text 23"/>
          <p:cNvSpPr/>
          <p:nvPr/>
        </p:nvSpPr>
        <p:spPr>
          <a:xfrm>
            <a:off x="640080" y="5111496"/>
            <a:ext cx="10881360" cy="108813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The dataset covers 1,200 clean production records spanning 15 fields — plant, vehicle type, cost, defects, inspection score, warranty claims, and sales. With zero missing values and zero duplicates, the data is reliable and ready for analysis without any cleaning overhead, so the plant, quality, and sales comparisons ahead can be trusted at face value.</a:t>
            </a:r>
            <a:endParaRPr lang="en-US" sz="1250" dirty="0"/>
          </a:p>
        </p:txBody>
      </p:sp>
      <p:sp>
        <p:nvSpPr>
          <p:cNvPr id="27" name="Shape 24"/>
          <p:cNvSpPr/>
          <p:nvPr/>
        </p:nvSpPr>
        <p:spPr>
          <a:xfrm>
            <a:off x="6172200" y="2606040"/>
            <a:ext cx="5532120" cy="1965960"/>
          </a:xfrm>
          <a:prstGeom prst="roundRect">
            <a:avLst>
              <a:gd name="adj" fmla="val 3721"/>
            </a:avLst>
          </a:prstGeom>
          <a:solidFill>
            <a:srgbClr val="FFFFFF"/>
          </a:solidFill>
          <a:ln w="12700">
            <a:solidFill>
              <a:srgbClr val="E9C9C2"/>
            </a:solidFill>
            <a:prstDash val="solid"/>
          </a:ln>
        </p:spPr>
      </p:sp>
      <p:sp>
        <p:nvSpPr>
          <p:cNvPr id="28" name="Text 25"/>
          <p:cNvSpPr/>
          <p:nvPr/>
        </p:nvSpPr>
        <p:spPr>
          <a:xfrm>
            <a:off x="6355080" y="2697480"/>
            <a:ext cx="512064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Columns Captured</a:t>
            </a:r>
            <a:endParaRPr lang="en-US" sz="1200" dirty="0"/>
          </a:p>
        </p:txBody>
      </p:sp>
      <p:sp>
        <p:nvSpPr>
          <p:cNvPr id="29" name="Text 26"/>
          <p:cNvSpPr/>
          <p:nvPr/>
        </p:nvSpPr>
        <p:spPr>
          <a:xfrm>
            <a:off x="6355080" y="2999232"/>
            <a:ext cx="5166360" cy="1463040"/>
          </a:xfrm>
          <a:prstGeom prst="rect">
            <a:avLst/>
          </a:prstGeom>
          <a:noFill/>
          <a:ln/>
        </p:spPr>
        <p:txBody>
          <a:bodyPr wrap="square" rtlCol="0" anchor="t"/>
          <a:lstStyle/>
          <a:p>
            <a:pPr marL="0" indent="0">
              <a:lnSpc>
                <a:spcPct val="125000"/>
              </a:lnSpc>
              <a:buNone/>
            </a:pPr>
            <a:r>
              <a:rPr lang="en-US" sz="1100" dirty="0">
                <a:solidFill>
                  <a:srgbClr val="2B2321"/>
                </a:solidFill>
                <a:latin typeface="Calibri" pitchFamily="34" charset="0"/>
                <a:ea typeface="Calibri" pitchFamily="34" charset="-122"/>
                <a:cs typeface="Calibri" pitchFamily="34" charset="-120"/>
              </a:rPr>
              <a:t>Production_ID, Date, Month, Year, Plant, Vehicle_Type, Shift, Units_Produced, Production_Cost, Defects, Defect_Rate, Inspection_Score, Warranty_Claims, Sales, Efficiency</a:t>
            </a:r>
            <a:endParaRPr lang="en-US" sz="1100" dirty="0"/>
          </a:p>
        </p:txBody>
      </p:sp>
      <p:sp>
        <p:nvSpPr>
          <p:cNvPr id="30" name="Text 27"/>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31"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piechart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2</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Exploratory Data Analysis — First Look</a:t>
            </a:r>
            <a:endParaRPr lang="en-US" sz="2700" dirty="0"/>
          </a:p>
        </p:txBody>
      </p:sp>
      <p:sp>
        <p:nvSpPr>
          <p:cNvPr id="6" name="Shape 3"/>
          <p:cNvSpPr/>
          <p:nvPr/>
        </p:nvSpPr>
        <p:spPr>
          <a:xfrm>
            <a:off x="457200" y="1234440"/>
            <a:ext cx="5394960" cy="3794760"/>
          </a:xfrm>
          <a:prstGeom prst="roundRect">
            <a:avLst>
              <a:gd name="adj" fmla="val 1446"/>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01.png"/>
          <p:cNvPicPr>
            <a:picLocks noChangeAspect="1"/>
          </p:cNvPicPr>
          <p:nvPr/>
        </p:nvPicPr>
        <p:blipFill>
          <a:blip r:embed="rId4"/>
          <a:srcRect/>
          <a:stretch/>
        </p:blipFill>
        <p:spPr>
          <a:xfrm>
            <a:off x="566928" y="1344168"/>
            <a:ext cx="5175504" cy="3300984"/>
          </a:xfrm>
          <a:prstGeom prst="rect">
            <a:avLst/>
          </a:prstGeom>
        </p:spPr>
      </p:pic>
      <p:sp>
        <p:nvSpPr>
          <p:cNvPr id="8" name="Text 4"/>
          <p:cNvSpPr/>
          <p:nvPr/>
        </p:nvSpPr>
        <p:spPr>
          <a:xfrm>
            <a:off x="566928" y="4700016"/>
            <a:ext cx="517550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Chart 1: Production Records by Plant</a:t>
            </a:r>
            <a:endParaRPr lang="en-US" sz="1000" dirty="0"/>
          </a:p>
        </p:txBody>
      </p:sp>
      <p:sp>
        <p:nvSpPr>
          <p:cNvPr id="9" name="Shape 5"/>
          <p:cNvSpPr/>
          <p:nvPr/>
        </p:nvSpPr>
        <p:spPr>
          <a:xfrm>
            <a:off x="5989320" y="1234440"/>
            <a:ext cx="5394960" cy="3794760"/>
          </a:xfrm>
          <a:prstGeom prst="roundRect">
            <a:avLst>
              <a:gd name="adj" fmla="val 1446"/>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10" name="Image 2" descr="/home/claude/extract/imgs/chart_002.png"/>
          <p:cNvPicPr>
            <a:picLocks noChangeAspect="1"/>
          </p:cNvPicPr>
          <p:nvPr/>
        </p:nvPicPr>
        <p:blipFill>
          <a:blip r:embed="rId5"/>
          <a:srcRect/>
          <a:stretch/>
        </p:blipFill>
        <p:spPr>
          <a:xfrm>
            <a:off x="6099048" y="1344168"/>
            <a:ext cx="5175504" cy="3300984"/>
          </a:xfrm>
          <a:prstGeom prst="rect">
            <a:avLst/>
          </a:prstGeom>
        </p:spPr>
      </p:pic>
      <p:sp>
        <p:nvSpPr>
          <p:cNvPr id="11" name="Text 6"/>
          <p:cNvSpPr/>
          <p:nvPr/>
        </p:nvSpPr>
        <p:spPr>
          <a:xfrm>
            <a:off x="6099048" y="4700016"/>
            <a:ext cx="517550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Chart 2: Vehicle Category Split (PV vs CV)</a:t>
            </a:r>
            <a:endParaRPr lang="en-US" sz="1000" dirty="0"/>
          </a:p>
        </p:txBody>
      </p:sp>
      <p:sp>
        <p:nvSpPr>
          <p:cNvPr id="12" name="Shape 7"/>
          <p:cNvSpPr/>
          <p:nvPr/>
        </p:nvSpPr>
        <p:spPr>
          <a:xfrm>
            <a:off x="457200" y="5166360"/>
            <a:ext cx="11247120" cy="1188720"/>
          </a:xfrm>
          <a:prstGeom prst="roundRect">
            <a:avLst>
              <a:gd name="adj" fmla="val 6154"/>
            </a:avLst>
          </a:prstGeom>
          <a:solidFill>
            <a:srgbClr val="F5EAE7"/>
          </a:solidFill>
          <a:ln w="12700">
            <a:solidFill>
              <a:srgbClr val="E9C9C2"/>
            </a:solidFill>
            <a:prstDash val="solid"/>
          </a:ln>
        </p:spPr>
      </p:sp>
      <p:sp>
        <p:nvSpPr>
          <p:cNvPr id="13" name="Text 8"/>
          <p:cNvSpPr/>
          <p:nvPr/>
        </p:nvSpPr>
        <p:spPr>
          <a:xfrm>
            <a:off x="640080" y="5276088"/>
            <a:ext cx="108813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a:t>
            </a:r>
            <a:endParaRPr lang="en-US" sz="1200" dirty="0"/>
          </a:p>
        </p:txBody>
      </p:sp>
      <p:sp>
        <p:nvSpPr>
          <p:cNvPr id="14" name="Text 9"/>
          <p:cNvSpPr/>
          <p:nvPr/>
        </p:nvSpPr>
        <p:spPr>
          <a:xfrm>
            <a:off x="640080" y="5568696"/>
            <a:ext cx="10881360" cy="67665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Plant A holds the largest share of production records (346), followed by Plant B (335), Plant D (276) and Plant C (243). On the vehicle side, Passenger Vehicles (850 records) dominate the line-up over Commercial Vehicles (350) — so PV performance will carry more weight in the company's overall numbers.</a:t>
            </a:r>
            <a:endParaRPr lang="en-US" sz="1250" dirty="0"/>
          </a:p>
        </p:txBody>
      </p:sp>
      <p:sp>
        <p:nvSpPr>
          <p:cNvPr id="15" name="Text 1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6" name="Text 1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factory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3.1</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Plant-wise Production Analysis</a:t>
            </a:r>
            <a:endParaRPr lang="en-US" sz="2700" dirty="0"/>
          </a:p>
        </p:txBody>
      </p:sp>
      <p:sp>
        <p:nvSpPr>
          <p:cNvPr id="6" name="Shape 3"/>
          <p:cNvSpPr/>
          <p:nvPr/>
        </p:nvSpPr>
        <p:spPr>
          <a:xfrm>
            <a:off x="457200" y="1234440"/>
            <a:ext cx="5943600" cy="5074920"/>
          </a:xfrm>
          <a:prstGeom prst="roundRect">
            <a:avLst>
              <a:gd name="adj" fmla="val 1081"/>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06.png"/>
          <p:cNvPicPr>
            <a:picLocks noChangeAspect="1"/>
          </p:cNvPicPr>
          <p:nvPr/>
        </p:nvPicPr>
        <p:blipFill>
          <a:blip r:embed="rId4"/>
          <a:srcRect/>
          <a:stretch/>
        </p:blipFill>
        <p:spPr>
          <a:xfrm>
            <a:off x="566928" y="1344168"/>
            <a:ext cx="5724144" cy="4581144"/>
          </a:xfrm>
          <a:prstGeom prst="rect">
            <a:avLst/>
          </a:prstGeom>
        </p:spPr>
      </p:pic>
      <p:sp>
        <p:nvSpPr>
          <p:cNvPr id="8" name="Text 4"/>
          <p:cNvSpPr/>
          <p:nvPr/>
        </p:nvSpPr>
        <p:spPr>
          <a:xfrm>
            <a:off x="566928" y="5980176"/>
            <a:ext cx="572414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Total Units Produced by Manufacturing Plant</a:t>
            </a:r>
            <a:endParaRPr lang="en-US" sz="1000" dirty="0"/>
          </a:p>
        </p:txBody>
      </p:sp>
      <p:sp>
        <p:nvSpPr>
          <p:cNvPr id="9" name="Shape 5"/>
          <p:cNvSpPr/>
          <p:nvPr/>
        </p:nvSpPr>
        <p:spPr>
          <a:xfrm>
            <a:off x="6629400" y="1234440"/>
            <a:ext cx="5074920" cy="1828800"/>
          </a:xfrm>
          <a:prstGeom prst="roundRect">
            <a:avLst>
              <a:gd name="adj" fmla="val 4000"/>
            </a:avLst>
          </a:prstGeom>
          <a:solidFill>
            <a:srgbClr val="2B2321"/>
          </a:solidFill>
          <a:ln/>
          <a:effectLst>
            <a:outerShdw blurRad="76200" dist="25400" dir="5400000" algn="bl" rotWithShape="0">
              <a:srgbClr val="000000">
                <a:alpha val="25000"/>
              </a:srgbClr>
            </a:outerShdw>
          </a:effectLst>
        </p:spPr>
      </p:sp>
      <p:sp>
        <p:nvSpPr>
          <p:cNvPr id="10" name="Text 6"/>
          <p:cNvSpPr/>
          <p:nvPr/>
        </p:nvSpPr>
        <p:spPr>
          <a:xfrm>
            <a:off x="6766560" y="1307592"/>
            <a:ext cx="4800600" cy="228600"/>
          </a:xfrm>
          <a:prstGeom prst="rect">
            <a:avLst/>
          </a:prstGeom>
          <a:noFill/>
          <a:ln/>
        </p:spPr>
        <p:txBody>
          <a:bodyPr wrap="square" rtlCol="0" anchor="ctr"/>
          <a:lstStyle/>
          <a:p>
            <a:pPr marL="0" indent="0">
              <a:buNone/>
            </a:pPr>
            <a:r>
              <a:rPr lang="en-US" sz="950" b="1" dirty="0">
                <a:solidFill>
                  <a:srgbClr val="E9C9C2"/>
                </a:solidFill>
                <a:latin typeface="Calibri" pitchFamily="34" charset="0"/>
                <a:ea typeface="Calibri" pitchFamily="34" charset="-122"/>
                <a:cs typeface="Calibri" pitchFamily="34" charset="-120"/>
              </a:rPr>
              <a:t>plant_production.py</a:t>
            </a:r>
            <a:endParaRPr lang="en-US" sz="950" dirty="0"/>
          </a:p>
        </p:txBody>
      </p:sp>
      <p:sp>
        <p:nvSpPr>
          <p:cNvPr id="11" name="Text 7"/>
          <p:cNvSpPr/>
          <p:nvPr/>
        </p:nvSpPr>
        <p:spPr>
          <a:xfrm>
            <a:off x="6766560" y="1554480"/>
            <a:ext cx="4800600" cy="1417320"/>
          </a:xfrm>
          <a:prstGeom prst="rect">
            <a:avLst/>
          </a:prstGeom>
          <a:noFill/>
          <a:ln/>
        </p:spPr>
        <p:txBody>
          <a:bodyPr wrap="square" rtlCol="0" anchor="t"/>
          <a:lstStyle/>
          <a:p>
            <a:pPr marL="0" indent="0">
              <a:lnSpc>
                <a:spcPct val="112000"/>
              </a:lnSpc>
              <a:buNone/>
            </a:pPr>
            <a:r>
              <a:rPr lang="en-US" sz="1100" dirty="0">
                <a:solidFill>
                  <a:srgbClr val="F2E9E7"/>
                </a:solidFill>
                <a:latin typeface="Consolas" pitchFamily="34" charset="0"/>
                <a:ea typeface="Consolas" pitchFamily="34" charset="-122"/>
                <a:cs typeface="Consolas" pitchFamily="34" charset="-120"/>
              </a:rPr>
              <a:t>plant_production = df.groupby('Plant')['Units_Produced']\</a:t>
            </a:r>
            <a:endParaRPr lang="en-US" sz="1100" dirty="0"/>
          </a:p>
          <a:p>
            <a:pPr marL="0" indent="0">
              <a:lnSpc>
                <a:spcPct val="112000"/>
              </a:lnSpc>
              <a:buNone/>
            </a:pPr>
            <a:r>
              <a:rPr lang="en-US" sz="1100" dirty="0">
                <a:solidFill>
                  <a:srgbClr val="F2E9E7"/>
                </a:solidFill>
                <a:latin typeface="Consolas" pitchFamily="34" charset="0"/>
                <a:ea typeface="Consolas" pitchFamily="34" charset="-122"/>
                <a:cs typeface="Consolas" pitchFamily="34" charset="-120"/>
              </a:rPr>
              <a:t>                     .sum().reset_index()</a:t>
            </a:r>
            <a:endParaRPr lang="en-US" sz="1100" dirty="0"/>
          </a:p>
          <a:p>
            <a:pPr marL="0" indent="0">
              <a:lnSpc>
                <a:spcPct val="112000"/>
              </a:lnSpc>
              <a:buNone/>
            </a:pPr>
            <a:endParaRPr lang="en-US" sz="1100" dirty="0"/>
          </a:p>
          <a:p>
            <a:pPr marL="0" indent="0">
              <a:lnSpc>
                <a:spcPct val="112000"/>
              </a:lnSpc>
              <a:buNone/>
            </a:pPr>
            <a:r>
              <a:rPr lang="en-US" sz="1100" dirty="0">
                <a:solidFill>
                  <a:srgbClr val="F2E9E7"/>
                </a:solidFill>
                <a:latin typeface="Consolas" pitchFamily="34" charset="0"/>
                <a:ea typeface="Consolas" pitchFamily="34" charset="-122"/>
                <a:cs typeface="Consolas" pitchFamily="34" charset="-120"/>
              </a:rPr>
              <a:t>sns.barplot(data=plant_production,</a:t>
            </a:r>
            <a:endParaRPr lang="en-US" sz="1100" dirty="0"/>
          </a:p>
          <a:p>
            <a:pPr marL="0" indent="0">
              <a:lnSpc>
                <a:spcPct val="112000"/>
              </a:lnSpc>
              <a:buNone/>
            </a:pPr>
            <a:r>
              <a:rPr lang="en-US" sz="1100" dirty="0">
                <a:solidFill>
                  <a:srgbClr val="F2E9E7"/>
                </a:solidFill>
                <a:latin typeface="Consolas" pitchFamily="34" charset="0"/>
                <a:ea typeface="Consolas" pitchFamily="34" charset="-122"/>
                <a:cs typeface="Consolas" pitchFamily="34" charset="-120"/>
              </a:rPr>
              <a:t>            x='Plant', y='Units_Produced')</a:t>
            </a:r>
            <a:endParaRPr lang="en-US" sz="1100" dirty="0"/>
          </a:p>
        </p:txBody>
      </p:sp>
      <p:sp>
        <p:nvSpPr>
          <p:cNvPr id="12" name="Shape 8"/>
          <p:cNvSpPr/>
          <p:nvPr/>
        </p:nvSpPr>
        <p:spPr>
          <a:xfrm>
            <a:off x="6629400" y="3291840"/>
            <a:ext cx="5074920" cy="3017520"/>
          </a:xfrm>
          <a:prstGeom prst="roundRect">
            <a:avLst>
              <a:gd name="adj" fmla="val 2424"/>
            </a:avLst>
          </a:prstGeom>
          <a:solidFill>
            <a:srgbClr val="F5EAE7"/>
          </a:solidFill>
          <a:ln w="12700">
            <a:solidFill>
              <a:srgbClr val="E9C9C2"/>
            </a:solidFill>
            <a:prstDash val="solid"/>
          </a:ln>
        </p:spPr>
      </p:sp>
      <p:sp>
        <p:nvSpPr>
          <p:cNvPr id="13" name="Text 9"/>
          <p:cNvSpPr/>
          <p:nvPr/>
        </p:nvSpPr>
        <p:spPr>
          <a:xfrm>
            <a:off x="6812280" y="3401568"/>
            <a:ext cx="47091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a:t>
            </a:r>
            <a:endParaRPr lang="en-US" sz="1200" dirty="0"/>
          </a:p>
        </p:txBody>
      </p:sp>
      <p:sp>
        <p:nvSpPr>
          <p:cNvPr id="14" name="Text 10"/>
          <p:cNvSpPr/>
          <p:nvPr/>
        </p:nvSpPr>
        <p:spPr>
          <a:xfrm>
            <a:off x="6812280" y="3694176"/>
            <a:ext cx="4709160" cy="250545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Plant A leads with 530,214 units, followed by Plant B (459,319) and Plant C (326,340). Plant D trails with 238,592 units — roughly half of Plant A's output. This points to a clear gap in manufacturing capacity or production planning between the top and bottom plants.</a:t>
            </a:r>
            <a:endParaRPr lang="en-US" sz="1250" dirty="0"/>
          </a:p>
        </p:txBody>
      </p:sp>
      <p:sp>
        <p:nvSpPr>
          <p:cNvPr id="15" name="Text 1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6"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speedometer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3.2</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Plant Efficiency &amp; Production Cost</a:t>
            </a:r>
            <a:endParaRPr lang="en-US" sz="2700" dirty="0"/>
          </a:p>
        </p:txBody>
      </p:sp>
      <p:sp>
        <p:nvSpPr>
          <p:cNvPr id="6" name="Shape 3"/>
          <p:cNvSpPr/>
          <p:nvPr/>
        </p:nvSpPr>
        <p:spPr>
          <a:xfrm>
            <a:off x="457200" y="1234440"/>
            <a:ext cx="5394960" cy="3246120"/>
          </a:xfrm>
          <a:prstGeom prst="roundRect">
            <a:avLst>
              <a:gd name="adj" fmla="val 1690"/>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07.png"/>
          <p:cNvPicPr>
            <a:picLocks noChangeAspect="1"/>
          </p:cNvPicPr>
          <p:nvPr/>
        </p:nvPicPr>
        <p:blipFill>
          <a:blip r:embed="rId4"/>
          <a:srcRect/>
          <a:stretch/>
        </p:blipFill>
        <p:spPr>
          <a:xfrm>
            <a:off x="566928" y="1344168"/>
            <a:ext cx="5175504" cy="2752344"/>
          </a:xfrm>
          <a:prstGeom prst="rect">
            <a:avLst/>
          </a:prstGeom>
        </p:spPr>
      </p:pic>
      <p:sp>
        <p:nvSpPr>
          <p:cNvPr id="8" name="Text 4"/>
          <p:cNvSpPr/>
          <p:nvPr/>
        </p:nvSpPr>
        <p:spPr>
          <a:xfrm>
            <a:off x="566928" y="4151376"/>
            <a:ext cx="517550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Average Production Efficiency by Plant</a:t>
            </a:r>
            <a:endParaRPr lang="en-US" sz="1000" dirty="0"/>
          </a:p>
        </p:txBody>
      </p:sp>
      <p:sp>
        <p:nvSpPr>
          <p:cNvPr id="9" name="Shape 5"/>
          <p:cNvSpPr/>
          <p:nvPr/>
        </p:nvSpPr>
        <p:spPr>
          <a:xfrm>
            <a:off x="5989320" y="1234440"/>
            <a:ext cx="5394960" cy="3246120"/>
          </a:xfrm>
          <a:prstGeom prst="roundRect">
            <a:avLst>
              <a:gd name="adj" fmla="val 1690"/>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10" name="Image 2" descr="/home/claude/extract/imgs/chart_008.png"/>
          <p:cNvPicPr>
            <a:picLocks noChangeAspect="1"/>
          </p:cNvPicPr>
          <p:nvPr/>
        </p:nvPicPr>
        <p:blipFill>
          <a:blip r:embed="rId5"/>
          <a:srcRect/>
          <a:stretch/>
        </p:blipFill>
        <p:spPr>
          <a:xfrm>
            <a:off x="6099048" y="1344168"/>
            <a:ext cx="5175504" cy="2752344"/>
          </a:xfrm>
          <a:prstGeom prst="rect">
            <a:avLst/>
          </a:prstGeom>
        </p:spPr>
      </p:pic>
      <p:sp>
        <p:nvSpPr>
          <p:cNvPr id="11" name="Text 6"/>
          <p:cNvSpPr/>
          <p:nvPr/>
        </p:nvSpPr>
        <p:spPr>
          <a:xfrm>
            <a:off x="6099048" y="4151376"/>
            <a:ext cx="517550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Average Production Cost by Plant</a:t>
            </a:r>
            <a:endParaRPr lang="en-US" sz="1000" dirty="0"/>
          </a:p>
        </p:txBody>
      </p:sp>
      <p:sp>
        <p:nvSpPr>
          <p:cNvPr id="12" name="Shape 7"/>
          <p:cNvSpPr/>
          <p:nvPr/>
        </p:nvSpPr>
        <p:spPr>
          <a:xfrm>
            <a:off x="457200" y="4617720"/>
            <a:ext cx="11247120" cy="1737360"/>
          </a:xfrm>
          <a:prstGeom prst="roundRect">
            <a:avLst>
              <a:gd name="adj" fmla="val 4211"/>
            </a:avLst>
          </a:prstGeom>
          <a:solidFill>
            <a:srgbClr val="F5EAE7"/>
          </a:solidFill>
          <a:ln w="12700">
            <a:solidFill>
              <a:srgbClr val="E9C9C2"/>
            </a:solidFill>
            <a:prstDash val="solid"/>
          </a:ln>
        </p:spPr>
      </p:sp>
      <p:sp>
        <p:nvSpPr>
          <p:cNvPr id="13" name="Text 8"/>
          <p:cNvSpPr/>
          <p:nvPr/>
        </p:nvSpPr>
        <p:spPr>
          <a:xfrm>
            <a:off x="640080" y="4727448"/>
            <a:ext cx="108813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 &amp; Business Insight</a:t>
            </a:r>
            <a:endParaRPr lang="en-US" sz="1200" dirty="0"/>
          </a:p>
        </p:txBody>
      </p:sp>
      <p:sp>
        <p:nvSpPr>
          <p:cNvPr id="14" name="Text 9"/>
          <p:cNvSpPr/>
          <p:nvPr/>
        </p:nvSpPr>
        <p:spPr>
          <a:xfrm>
            <a:off x="640080" y="5020056"/>
            <a:ext cx="10881360" cy="122529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Efficiency is close across all four plants (92.4%–92.7%), so no plant is dramatically wasting capacity. Cost tells a different story: Plant A runs the cheapest at ₹8.53 lakh average per batch, while Plant D is the costliest at ₹9.12 lakh. Since efficiency barely differs, Plant D's higher cost is likely coming from quality issues, rework, or resource use rather than genuine production complexity — a good target for cost-reduction efforts.</a:t>
            </a:r>
            <a:endParaRPr lang="en-US" sz="1250" dirty="0"/>
          </a:p>
        </p:txBody>
      </p:sp>
      <p:sp>
        <p:nvSpPr>
          <p:cNvPr id="15" name="Text 1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6" name="Text 1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checkered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3.3</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Plant Defect Rate &amp; Best-Performing Plant</a:t>
            </a:r>
            <a:endParaRPr lang="en-US" sz="2700" dirty="0"/>
          </a:p>
        </p:txBody>
      </p:sp>
      <p:sp>
        <p:nvSpPr>
          <p:cNvPr id="6" name="Shape 3"/>
          <p:cNvSpPr/>
          <p:nvPr/>
        </p:nvSpPr>
        <p:spPr>
          <a:xfrm>
            <a:off x="457200" y="1234440"/>
            <a:ext cx="5943600" cy="3931920"/>
          </a:xfrm>
          <a:prstGeom prst="roundRect">
            <a:avLst>
              <a:gd name="adj" fmla="val 1395"/>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09.png"/>
          <p:cNvPicPr>
            <a:picLocks noChangeAspect="1"/>
          </p:cNvPicPr>
          <p:nvPr/>
        </p:nvPicPr>
        <p:blipFill>
          <a:blip r:embed="rId4"/>
          <a:srcRect/>
          <a:stretch/>
        </p:blipFill>
        <p:spPr>
          <a:xfrm>
            <a:off x="566928" y="1344168"/>
            <a:ext cx="5724144" cy="3438144"/>
          </a:xfrm>
          <a:prstGeom prst="rect">
            <a:avLst/>
          </a:prstGeom>
        </p:spPr>
      </p:pic>
      <p:sp>
        <p:nvSpPr>
          <p:cNvPr id="8" name="Text 4"/>
          <p:cNvSpPr/>
          <p:nvPr/>
        </p:nvSpPr>
        <p:spPr>
          <a:xfrm>
            <a:off x="566928" y="4837176"/>
            <a:ext cx="572414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Average Defect Rate by Manufacturing Plant</a:t>
            </a:r>
            <a:endParaRPr lang="en-US" sz="1000" dirty="0"/>
          </a:p>
        </p:txBody>
      </p:sp>
      <p:sp>
        <p:nvSpPr>
          <p:cNvPr id="9" name="Shape 5"/>
          <p:cNvSpPr/>
          <p:nvPr/>
        </p:nvSpPr>
        <p:spPr>
          <a:xfrm>
            <a:off x="6629400" y="1234440"/>
            <a:ext cx="5074920" cy="1737360"/>
          </a:xfrm>
          <a:prstGeom prst="roundRect">
            <a:avLst>
              <a:gd name="adj" fmla="val 4211"/>
            </a:avLst>
          </a:prstGeom>
          <a:solidFill>
            <a:srgbClr val="5C2323"/>
          </a:solidFill>
          <a:ln/>
        </p:spPr>
      </p:sp>
      <p:pic>
        <p:nvPicPr>
          <p:cNvPr id="10" name="Image 2" descr="/home/claude/build/icons/trophy_white.png"/>
          <p:cNvPicPr>
            <a:picLocks noChangeAspect="1"/>
          </p:cNvPicPr>
          <p:nvPr/>
        </p:nvPicPr>
        <p:blipFill>
          <a:blip r:embed="rId5"/>
          <a:stretch>
            <a:fillRect/>
          </a:stretch>
        </p:blipFill>
        <p:spPr>
          <a:xfrm>
            <a:off x="6812280" y="1417320"/>
            <a:ext cx="502920" cy="502920"/>
          </a:xfrm>
          <a:prstGeom prst="rect">
            <a:avLst/>
          </a:prstGeom>
        </p:spPr>
      </p:pic>
      <p:sp>
        <p:nvSpPr>
          <p:cNvPr id="11" name="Text 6"/>
          <p:cNvSpPr/>
          <p:nvPr/>
        </p:nvSpPr>
        <p:spPr>
          <a:xfrm>
            <a:off x="7452360" y="1371600"/>
            <a:ext cx="41148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Best Manufacturing Plant: PLANT A</a:t>
            </a:r>
            <a:endParaRPr lang="en-US" sz="1500" dirty="0"/>
          </a:p>
        </p:txBody>
      </p:sp>
      <p:sp>
        <p:nvSpPr>
          <p:cNvPr id="12" name="Text 7"/>
          <p:cNvSpPr/>
          <p:nvPr/>
        </p:nvSpPr>
        <p:spPr>
          <a:xfrm>
            <a:off x="6812280" y="1965960"/>
            <a:ext cx="4663440" cy="914400"/>
          </a:xfrm>
          <a:prstGeom prst="rect">
            <a:avLst/>
          </a:prstGeom>
          <a:noFill/>
          <a:ln/>
        </p:spPr>
        <p:txBody>
          <a:bodyPr wrap="square" rtlCol="0" anchor="t"/>
          <a:lstStyle/>
          <a:p>
            <a:pPr marL="0" indent="0">
              <a:lnSpc>
                <a:spcPct val="115000"/>
              </a:lnSpc>
              <a:buNone/>
            </a:pPr>
            <a:r>
              <a:rPr lang="en-US" sz="1150" dirty="0">
                <a:solidFill>
                  <a:srgbClr val="F5EAE7"/>
                </a:solidFill>
                <a:latin typeface="Calibri" pitchFamily="34" charset="0"/>
                <a:ea typeface="Calibri" pitchFamily="34" charset="-122"/>
                <a:cs typeface="Calibri" pitchFamily="34" charset="-120"/>
              </a:rPr>
              <a:t>Highest output, lowest defect rate (0.71%), lowest cost, and top sales — the clear benchmark plant.</a:t>
            </a:r>
            <a:endParaRPr lang="en-US" sz="1150" dirty="0"/>
          </a:p>
        </p:txBody>
      </p:sp>
      <p:sp>
        <p:nvSpPr>
          <p:cNvPr id="13" name="Shape 8"/>
          <p:cNvSpPr/>
          <p:nvPr/>
        </p:nvSpPr>
        <p:spPr>
          <a:xfrm>
            <a:off x="6629400" y="3108960"/>
            <a:ext cx="5074920" cy="1920240"/>
          </a:xfrm>
          <a:prstGeom prst="roundRect">
            <a:avLst>
              <a:gd name="adj" fmla="val 3810"/>
            </a:avLst>
          </a:prstGeom>
          <a:solidFill>
            <a:srgbClr val="F5EAE7"/>
          </a:solidFill>
          <a:ln w="12700">
            <a:solidFill>
              <a:srgbClr val="E9C9C2"/>
            </a:solidFill>
            <a:prstDash val="solid"/>
          </a:ln>
        </p:spPr>
      </p:sp>
      <p:sp>
        <p:nvSpPr>
          <p:cNvPr id="14" name="Text 9"/>
          <p:cNvSpPr/>
          <p:nvPr/>
        </p:nvSpPr>
        <p:spPr>
          <a:xfrm>
            <a:off x="6812280" y="3218688"/>
            <a:ext cx="47091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a:t>
            </a:r>
            <a:endParaRPr lang="en-US" sz="1200" dirty="0"/>
          </a:p>
        </p:txBody>
      </p:sp>
      <p:sp>
        <p:nvSpPr>
          <p:cNvPr id="15" name="Text 10"/>
          <p:cNvSpPr/>
          <p:nvPr/>
        </p:nvSpPr>
        <p:spPr>
          <a:xfrm>
            <a:off x="6812280" y="3511296"/>
            <a:ext cx="4709160" cy="140817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Defect rate rises sharply from Plant A (0.71%) through Plant B (1.39%) and Plant C (2.50%) to Plant D (4.00%) — nearly a six-fold jump. Combined with its lower output and higher cost, Plant D needs the most urgent attention on quality control.</a:t>
            </a:r>
            <a:endParaRPr lang="en-US" sz="1250" dirty="0"/>
          </a:p>
        </p:txBody>
      </p:sp>
      <p:sp>
        <p:nvSpPr>
          <p:cNvPr id="16" name="Text 1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7"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C2323"/>
        </a:solidFill>
        <a:effectLst/>
      </p:bgPr>
    </p:bg>
    <p:spTree>
      <p:nvGrpSpPr>
        <p:cNvPr id="1" name=""/>
        <p:cNvGrpSpPr/>
        <p:nvPr/>
      </p:nvGrpSpPr>
      <p:grpSpPr>
        <a:xfrm>
          <a:off x="0" y="0"/>
          <a:ext cx="0" cy="0"/>
          <a:chOff x="0" y="0"/>
          <a:chExt cx="0" cy="0"/>
        </a:xfrm>
      </p:grpSpPr>
      <p:pic>
        <p:nvPicPr>
          <p:cNvPr id="2" name="Image 0" descr="/home/claude/build/icons/toolbox_darkred.png"/>
          <p:cNvPicPr>
            <a:picLocks noChangeAspect="1"/>
          </p:cNvPicPr>
          <p:nvPr/>
        </p:nvPicPr>
        <p:blipFill>
          <a:blip r:embed="rId3">
            <a:alphaModFix amt="45000"/>
          </a:blip>
          <a:stretch>
            <a:fillRect/>
          </a:stretch>
        </p:blipFill>
        <p:spPr>
          <a:xfrm>
            <a:off x="9265920" y="3895344"/>
            <a:ext cx="2926080" cy="2926080"/>
          </a:xfrm>
          <a:prstGeom prst="rect">
            <a:avLst/>
          </a:prstGeom>
        </p:spPr>
      </p:pic>
      <p:sp>
        <p:nvSpPr>
          <p:cNvPr id="3" name="Shape 0"/>
          <p:cNvSpPr/>
          <p:nvPr/>
        </p:nvSpPr>
        <p:spPr>
          <a:xfrm>
            <a:off x="457200" y="502920"/>
            <a:ext cx="566928" cy="566928"/>
          </a:xfrm>
          <a:prstGeom prst="ellipse">
            <a:avLst/>
          </a:prstGeom>
          <a:solidFill>
            <a:srgbClr val="7A2E2E"/>
          </a:solidFill>
          <a:ln/>
        </p:spPr>
      </p:sp>
      <p:pic>
        <p:nvPicPr>
          <p:cNvPr id="4" name="Image 1" descr="/home/claude/build/icons/bulb_white.png"/>
          <p:cNvPicPr>
            <a:picLocks noChangeAspect="1"/>
          </p:cNvPicPr>
          <p:nvPr/>
        </p:nvPicPr>
        <p:blipFill>
          <a:blip r:embed="rId4"/>
          <a:stretch>
            <a:fillRect/>
          </a:stretch>
        </p:blipFill>
        <p:spPr>
          <a:xfrm>
            <a:off x="580644" y="626364"/>
            <a:ext cx="320040" cy="320040"/>
          </a:xfrm>
          <a:prstGeom prst="rect">
            <a:avLst/>
          </a:prstGeom>
        </p:spPr>
      </p:pic>
      <p:sp>
        <p:nvSpPr>
          <p:cNvPr id="5" name="Text 1"/>
          <p:cNvSpPr/>
          <p:nvPr/>
        </p:nvSpPr>
        <p:spPr>
          <a:xfrm>
            <a:off x="1188720" y="457200"/>
            <a:ext cx="9144000" cy="274320"/>
          </a:xfrm>
          <a:prstGeom prst="rect">
            <a:avLst/>
          </a:prstGeom>
          <a:noFill/>
          <a:ln/>
        </p:spPr>
        <p:txBody>
          <a:bodyPr wrap="square" rtlCol="0" anchor="ctr"/>
          <a:lstStyle/>
          <a:p>
            <a:pPr marL="0" indent="0">
              <a:buNone/>
            </a:pPr>
            <a:r>
              <a:rPr lang="en-US" sz="1200" b="1" kern="0" spc="200" dirty="0">
                <a:solidFill>
                  <a:srgbClr val="E9C9C2"/>
                </a:solidFill>
                <a:latin typeface="Calibri" pitchFamily="34" charset="0"/>
                <a:ea typeface="Calibri" pitchFamily="34" charset="-122"/>
                <a:cs typeface="Calibri" pitchFamily="34" charset="-120"/>
              </a:rPr>
              <a:t>PLANT-WISE RECOMMENDATIONS</a:t>
            </a:r>
            <a:endParaRPr lang="en-US" sz="1200" dirty="0"/>
          </a:p>
        </p:txBody>
      </p:sp>
      <p:sp>
        <p:nvSpPr>
          <p:cNvPr id="6" name="Text 2"/>
          <p:cNvSpPr/>
          <p:nvPr/>
        </p:nvSpPr>
        <p:spPr>
          <a:xfrm>
            <a:off x="1188720" y="713232"/>
            <a:ext cx="10058400" cy="548640"/>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Reducing Defects &amp; Improving Plant Efficiency</a:t>
            </a:r>
            <a:endParaRPr lang="en-US" sz="2500" dirty="0"/>
          </a:p>
        </p:txBody>
      </p:sp>
      <p:sp>
        <p:nvSpPr>
          <p:cNvPr id="7" name="Shape 3"/>
          <p:cNvSpPr/>
          <p:nvPr/>
        </p:nvSpPr>
        <p:spPr>
          <a:xfrm>
            <a:off x="640080" y="1600200"/>
            <a:ext cx="457200" cy="457200"/>
          </a:xfrm>
          <a:prstGeom prst="roundRect">
            <a:avLst>
              <a:gd name="adj" fmla="val 16000"/>
            </a:avLst>
          </a:prstGeom>
          <a:solidFill>
            <a:srgbClr val="7A2E2E"/>
          </a:solidFill>
          <a:ln/>
        </p:spPr>
      </p:sp>
      <p:sp>
        <p:nvSpPr>
          <p:cNvPr id="8" name="Text 4"/>
          <p:cNvSpPr/>
          <p:nvPr/>
        </p:nvSpPr>
        <p:spPr>
          <a:xfrm>
            <a:off x="640080" y="16002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5"/>
          <p:cNvSpPr/>
          <p:nvPr/>
        </p:nvSpPr>
        <p:spPr>
          <a:xfrm>
            <a:off x="1280160" y="1554480"/>
            <a:ext cx="10241280" cy="54864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Roll out Plant A's production practices — its process discipline — to all other plants.</a:t>
            </a:r>
            <a:endParaRPr lang="en-US" sz="1500" dirty="0"/>
          </a:p>
        </p:txBody>
      </p:sp>
      <p:sp>
        <p:nvSpPr>
          <p:cNvPr id="10" name="Shape 6"/>
          <p:cNvSpPr/>
          <p:nvPr/>
        </p:nvSpPr>
        <p:spPr>
          <a:xfrm>
            <a:off x="640080" y="2496312"/>
            <a:ext cx="457200" cy="457200"/>
          </a:xfrm>
          <a:prstGeom prst="roundRect">
            <a:avLst>
              <a:gd name="adj" fmla="val 16000"/>
            </a:avLst>
          </a:prstGeom>
          <a:solidFill>
            <a:srgbClr val="7A2E2E"/>
          </a:solidFill>
          <a:ln/>
        </p:spPr>
      </p:sp>
      <p:sp>
        <p:nvSpPr>
          <p:cNvPr id="11" name="Text 7"/>
          <p:cNvSpPr/>
          <p:nvPr/>
        </p:nvSpPr>
        <p:spPr>
          <a:xfrm>
            <a:off x="640080" y="249631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1280160" y="2450592"/>
            <a:ext cx="10241280" cy="54864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Reduce production costs at Plant D without cutting corners on quality.</a:t>
            </a:r>
            <a:endParaRPr lang="en-US" sz="1500" dirty="0"/>
          </a:p>
        </p:txBody>
      </p:sp>
      <p:sp>
        <p:nvSpPr>
          <p:cNvPr id="13" name="Shape 9"/>
          <p:cNvSpPr/>
          <p:nvPr/>
        </p:nvSpPr>
        <p:spPr>
          <a:xfrm>
            <a:off x="640080" y="3392424"/>
            <a:ext cx="457200" cy="457200"/>
          </a:xfrm>
          <a:prstGeom prst="roundRect">
            <a:avLst>
              <a:gd name="adj" fmla="val 16000"/>
            </a:avLst>
          </a:prstGeom>
          <a:solidFill>
            <a:srgbClr val="7A2E2E"/>
          </a:solidFill>
          <a:ln/>
        </p:spPr>
      </p:sp>
      <p:sp>
        <p:nvSpPr>
          <p:cNvPr id="14" name="Text 10"/>
          <p:cNvSpPr/>
          <p:nvPr/>
        </p:nvSpPr>
        <p:spPr>
          <a:xfrm>
            <a:off x="640080" y="3392424"/>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p:nvPr/>
        </p:nvSpPr>
        <p:spPr>
          <a:xfrm>
            <a:off x="1280160" y="3346704"/>
            <a:ext cx="10241280" cy="54864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Increase preventive maintenance to cut defects and improve equipment reliability.</a:t>
            </a:r>
            <a:endParaRPr lang="en-US" sz="1500" dirty="0"/>
          </a:p>
        </p:txBody>
      </p:sp>
      <p:sp>
        <p:nvSpPr>
          <p:cNvPr id="16" name="Shape 12"/>
          <p:cNvSpPr/>
          <p:nvPr/>
        </p:nvSpPr>
        <p:spPr>
          <a:xfrm>
            <a:off x="640080" y="4288536"/>
            <a:ext cx="457200" cy="457200"/>
          </a:xfrm>
          <a:prstGeom prst="roundRect">
            <a:avLst>
              <a:gd name="adj" fmla="val 16000"/>
            </a:avLst>
          </a:prstGeom>
          <a:solidFill>
            <a:srgbClr val="7A2E2E"/>
          </a:solidFill>
          <a:ln/>
        </p:spPr>
      </p:sp>
      <p:sp>
        <p:nvSpPr>
          <p:cNvPr id="17" name="Text 13"/>
          <p:cNvSpPr/>
          <p:nvPr/>
        </p:nvSpPr>
        <p:spPr>
          <a:xfrm>
            <a:off x="640080" y="4288536"/>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4"/>
          <p:cNvSpPr/>
          <p:nvPr/>
        </p:nvSpPr>
        <p:spPr>
          <a:xfrm>
            <a:off x="1280160" y="4242816"/>
            <a:ext cx="10241280" cy="54864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Strengthen quality inspections specifically at Plant C and Plant D.</a:t>
            </a:r>
            <a:endParaRPr lang="en-US" sz="1500" dirty="0"/>
          </a:p>
        </p:txBody>
      </p:sp>
      <p:sp>
        <p:nvSpPr>
          <p:cNvPr id="19" name="Shape 15"/>
          <p:cNvSpPr/>
          <p:nvPr/>
        </p:nvSpPr>
        <p:spPr>
          <a:xfrm>
            <a:off x="640080" y="5184648"/>
            <a:ext cx="457200" cy="457200"/>
          </a:xfrm>
          <a:prstGeom prst="roundRect">
            <a:avLst>
              <a:gd name="adj" fmla="val 16000"/>
            </a:avLst>
          </a:prstGeom>
          <a:solidFill>
            <a:srgbClr val="7A2E2E"/>
          </a:solidFill>
          <a:ln/>
        </p:spPr>
      </p:sp>
      <p:sp>
        <p:nvSpPr>
          <p:cNvPr id="20" name="Text 16"/>
          <p:cNvSpPr/>
          <p:nvPr/>
        </p:nvSpPr>
        <p:spPr>
          <a:xfrm>
            <a:off x="640080" y="5184648"/>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7"/>
          <p:cNvSpPr/>
          <p:nvPr/>
        </p:nvSpPr>
        <p:spPr>
          <a:xfrm>
            <a:off x="1280160" y="5138928"/>
            <a:ext cx="10241280" cy="54864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Track efficiency and defect rate monthly through a shared performance dashboard.</a:t>
            </a:r>
            <a:endParaRPr lang="en-US" sz="1500" dirty="0"/>
          </a:p>
        </p:txBody>
      </p:sp>
      <p:sp>
        <p:nvSpPr>
          <p:cNvPr id="22" name="Text 18"/>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23" name="Text 1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steering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4.1</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Vehicle Category Performance — PV vs CV</a:t>
            </a:r>
            <a:endParaRPr lang="en-US" sz="2700" dirty="0"/>
          </a:p>
        </p:txBody>
      </p:sp>
      <p:sp>
        <p:nvSpPr>
          <p:cNvPr id="6" name="Shape 3"/>
          <p:cNvSpPr/>
          <p:nvPr/>
        </p:nvSpPr>
        <p:spPr>
          <a:xfrm>
            <a:off x="457200" y="1234440"/>
            <a:ext cx="5394960" cy="3566160"/>
          </a:xfrm>
          <a:prstGeom prst="roundRect">
            <a:avLst>
              <a:gd name="adj" fmla="val 1538"/>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12.png"/>
          <p:cNvPicPr>
            <a:picLocks noChangeAspect="1"/>
          </p:cNvPicPr>
          <p:nvPr/>
        </p:nvPicPr>
        <p:blipFill>
          <a:blip r:embed="rId4"/>
          <a:srcRect/>
          <a:stretch/>
        </p:blipFill>
        <p:spPr>
          <a:xfrm>
            <a:off x="566928" y="1344168"/>
            <a:ext cx="5175504" cy="3072384"/>
          </a:xfrm>
          <a:prstGeom prst="rect">
            <a:avLst/>
          </a:prstGeom>
        </p:spPr>
      </p:pic>
      <p:sp>
        <p:nvSpPr>
          <p:cNvPr id="8" name="Text 4"/>
          <p:cNvSpPr/>
          <p:nvPr/>
        </p:nvSpPr>
        <p:spPr>
          <a:xfrm>
            <a:off x="566928" y="4471416"/>
            <a:ext cx="517550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Average Sales: Passenger vs Commercial Vehicles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89320" y="1234440"/>
          <a:ext cx="5742432" cy="2743200"/>
        </p:xfrm>
        <a:graphic>
          <a:graphicData uri="http://schemas.openxmlformats.org/drawingml/2006/table">
            <a:tbl>
              <a:tblPr/>
              <a:tblGrid>
                <a:gridCol w="1914144">
                  <a:extLst>
                    <a:ext uri="{9D8B030D-6E8A-4147-A177-3AD203B41FA5}">
                      <a16:colId xmlns:a16="http://schemas.microsoft.com/office/drawing/2014/main" val="20000"/>
                    </a:ext>
                  </a:extLst>
                </a:gridCol>
                <a:gridCol w="1914144">
                  <a:extLst>
                    <a:ext uri="{9D8B030D-6E8A-4147-A177-3AD203B41FA5}">
                      <a16:colId xmlns:a16="http://schemas.microsoft.com/office/drawing/2014/main" val="20001"/>
                    </a:ext>
                  </a:extLst>
                </a:gridCol>
                <a:gridCol w="1914144">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solidFill>
                      <a:srgbClr val="5C232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Commercial (CV)</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solidFill>
                      <a:srgbClr val="5C232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Passenger (PV)</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solidFill>
                      <a:srgbClr val="5C2323"/>
                    </a:solidFill>
                  </a:tcPr>
                </a:tc>
                <a:extLst>
                  <a:ext uri="{0D108BD9-81ED-4DB2-BD59-A6C34878D82A}">
                    <a16:rowId xmlns:a16="http://schemas.microsoft.com/office/drawing/2014/main" val="10000"/>
                  </a:ext>
                </a:extLst>
              </a:tr>
              <a:tr h="457200">
                <a:tc>
                  <a:txBody>
                    <a:bodyPr/>
                    <a:lstStyle/>
                    <a:p>
                      <a:pPr marL="0" indent="0">
                        <a:buNone/>
                      </a:pPr>
                      <a:r>
                        <a:rPr lang="en-US" sz="1150" dirty="0">
                          <a:solidFill>
                            <a:srgbClr val="2B2321"/>
                          </a:solidFill>
                          <a:latin typeface="Calibri" pitchFamily="34" charset="0"/>
                          <a:ea typeface="Calibri" pitchFamily="34" charset="-122"/>
                          <a:cs typeface="Calibri" pitchFamily="34" charset="-120"/>
                        </a:rPr>
                        <a:t>Avg. Units Produced</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1,280.16</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1,301.66</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50" dirty="0">
                          <a:solidFill>
                            <a:srgbClr val="2B2321"/>
                          </a:solidFill>
                          <a:latin typeface="Calibri" pitchFamily="34" charset="0"/>
                          <a:ea typeface="Calibri" pitchFamily="34" charset="-122"/>
                          <a:cs typeface="Calibri" pitchFamily="34" charset="-120"/>
                        </a:rPr>
                        <a:t>Avg. Sales</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1,186.01</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1,204.55</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50" dirty="0">
                          <a:solidFill>
                            <a:srgbClr val="2B2321"/>
                          </a:solidFill>
                          <a:latin typeface="Calibri" pitchFamily="34" charset="0"/>
                          <a:ea typeface="Calibri" pitchFamily="34" charset="-122"/>
                          <a:cs typeface="Calibri" pitchFamily="34" charset="-120"/>
                        </a:rPr>
                        <a:t>Avg. Defect Rate</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2.08%</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1.94%</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50" dirty="0">
                          <a:solidFill>
                            <a:srgbClr val="2B2321"/>
                          </a:solidFill>
                          <a:latin typeface="Calibri" pitchFamily="34" charset="0"/>
                          <a:ea typeface="Calibri" pitchFamily="34" charset="-122"/>
                          <a:cs typeface="Calibri" pitchFamily="34" charset="-120"/>
                        </a:rPr>
                        <a:t>Avg. Warranty Claims</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13.77</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12.68</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150" dirty="0">
                          <a:solidFill>
                            <a:srgbClr val="2B2321"/>
                          </a:solidFill>
                          <a:latin typeface="Calibri" pitchFamily="34" charset="0"/>
                          <a:ea typeface="Calibri" pitchFamily="34" charset="-122"/>
                          <a:cs typeface="Calibri" pitchFamily="34" charset="-120"/>
                        </a:rPr>
                        <a:t>Avg. Efficiency</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92.58%</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tc>
                  <a:txBody>
                    <a:bodyPr/>
                    <a:lstStyle/>
                    <a:p>
                      <a:pPr marL="0" indent="0" algn="ctr">
                        <a:buNone/>
                      </a:pPr>
                      <a:r>
                        <a:rPr lang="en-US" sz="1150" dirty="0">
                          <a:solidFill>
                            <a:srgbClr val="2B2321"/>
                          </a:solidFill>
                          <a:latin typeface="Calibri" pitchFamily="34" charset="0"/>
                          <a:ea typeface="Calibri" pitchFamily="34" charset="-122"/>
                          <a:cs typeface="Calibri" pitchFamily="34" charset="-120"/>
                        </a:rPr>
                        <a:t>92.54%</a:t>
                      </a:r>
                      <a:endParaRPr lang="en-US" sz="1150" dirty="0">
                        <a:latin typeface="Calibri" charset="0"/>
                        <a:ea typeface="Calibri" charset="0"/>
                        <a:cs typeface="Calibri" charset="0"/>
                      </a:endParaRPr>
                    </a:p>
                  </a:txBody>
                  <a:tcPr>
                    <a:lnL w="12700" cap="flat" cmpd="sng" algn="ctr">
                      <a:solidFill>
                        <a:srgbClr val="E9C9C2"/>
                      </a:solidFill>
                      <a:prstDash val="solid"/>
                      <a:round/>
                      <a:headEnd type="none" w="med" len="med"/>
                      <a:tailEnd type="none" w="med" len="med"/>
                    </a:lnL>
                    <a:lnR w="12700" cap="flat" cmpd="sng" algn="ctr">
                      <a:solidFill>
                        <a:srgbClr val="E9C9C2"/>
                      </a:solidFill>
                      <a:prstDash val="solid"/>
                      <a:round/>
                      <a:headEnd type="none" w="med" len="med"/>
                      <a:tailEnd type="none" w="med" len="med"/>
                    </a:lnR>
                    <a:lnT w="12700" cap="flat" cmpd="sng" algn="ctr">
                      <a:solidFill>
                        <a:srgbClr val="E9C9C2"/>
                      </a:solidFill>
                      <a:prstDash val="solid"/>
                      <a:round/>
                      <a:headEnd type="none" w="med" len="med"/>
                      <a:tailEnd type="none" w="med" len="med"/>
                    </a:lnT>
                    <a:lnB w="12700" cap="flat" cmpd="sng" algn="ctr">
                      <a:solidFill>
                        <a:srgbClr val="E9C9C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5"/>
          <p:cNvSpPr/>
          <p:nvPr/>
        </p:nvSpPr>
        <p:spPr>
          <a:xfrm>
            <a:off x="457200" y="4937760"/>
            <a:ext cx="11247120" cy="1417320"/>
          </a:xfrm>
          <a:prstGeom prst="roundRect">
            <a:avLst>
              <a:gd name="adj" fmla="val 5161"/>
            </a:avLst>
          </a:prstGeom>
          <a:solidFill>
            <a:srgbClr val="F5EAE7"/>
          </a:solidFill>
          <a:ln w="12700">
            <a:solidFill>
              <a:srgbClr val="E9C9C2"/>
            </a:solidFill>
            <a:prstDash val="solid"/>
          </a:ln>
        </p:spPr>
      </p:sp>
      <p:sp>
        <p:nvSpPr>
          <p:cNvPr id="11" name="Text 6"/>
          <p:cNvSpPr/>
          <p:nvPr/>
        </p:nvSpPr>
        <p:spPr>
          <a:xfrm>
            <a:off x="640080" y="5047488"/>
            <a:ext cx="108813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a:t>
            </a:r>
            <a:endParaRPr lang="en-US" sz="1200" dirty="0"/>
          </a:p>
        </p:txBody>
      </p:sp>
      <p:sp>
        <p:nvSpPr>
          <p:cNvPr id="12" name="Text 7"/>
          <p:cNvSpPr/>
          <p:nvPr/>
        </p:nvSpPr>
        <p:spPr>
          <a:xfrm>
            <a:off x="640080" y="5340096"/>
            <a:ext cx="10881360" cy="90525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Passenger Vehicles come out ahead on almost every measure: more units produced, higher sales, a lower defect rate, and fewer warranty claims than Commercial Vehicles. Efficiency is nearly identical between the two, so the PV line isn't winning on speed — it's winning on quality and market demand.</a:t>
            </a:r>
            <a:endParaRPr lang="en-US" sz="1250" dirty="0"/>
          </a:p>
        </p:txBody>
      </p:sp>
      <p:sp>
        <p:nvSpPr>
          <p:cNvPr id="13" name="Text 8"/>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4"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trophy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4.2</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Quality Comparison &amp; Best Vehicle Category</a:t>
            </a:r>
            <a:endParaRPr lang="en-US" sz="2700" dirty="0"/>
          </a:p>
        </p:txBody>
      </p:sp>
      <p:sp>
        <p:nvSpPr>
          <p:cNvPr id="6" name="Shape 3"/>
          <p:cNvSpPr/>
          <p:nvPr/>
        </p:nvSpPr>
        <p:spPr>
          <a:xfrm>
            <a:off x="457200" y="1234440"/>
            <a:ext cx="5943600" cy="3931920"/>
          </a:xfrm>
          <a:prstGeom prst="roundRect">
            <a:avLst>
              <a:gd name="adj" fmla="val 1395"/>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14.png"/>
          <p:cNvPicPr>
            <a:picLocks noChangeAspect="1"/>
          </p:cNvPicPr>
          <p:nvPr/>
        </p:nvPicPr>
        <p:blipFill>
          <a:blip r:embed="rId4"/>
          <a:srcRect/>
          <a:stretch/>
        </p:blipFill>
        <p:spPr>
          <a:xfrm>
            <a:off x="566928" y="1344168"/>
            <a:ext cx="5724144" cy="3438144"/>
          </a:xfrm>
          <a:prstGeom prst="rect">
            <a:avLst/>
          </a:prstGeom>
        </p:spPr>
      </p:pic>
      <p:sp>
        <p:nvSpPr>
          <p:cNvPr id="8" name="Text 4"/>
          <p:cNvSpPr/>
          <p:nvPr/>
        </p:nvSpPr>
        <p:spPr>
          <a:xfrm>
            <a:off x="566928" y="4837176"/>
            <a:ext cx="572414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Average Defect Rate: PV vs CV</a:t>
            </a:r>
            <a:endParaRPr lang="en-US" sz="1000" dirty="0"/>
          </a:p>
        </p:txBody>
      </p:sp>
      <p:sp>
        <p:nvSpPr>
          <p:cNvPr id="9" name="Shape 5"/>
          <p:cNvSpPr/>
          <p:nvPr/>
        </p:nvSpPr>
        <p:spPr>
          <a:xfrm>
            <a:off x="6629400" y="1234440"/>
            <a:ext cx="5074920" cy="1554480"/>
          </a:xfrm>
          <a:prstGeom prst="roundRect">
            <a:avLst>
              <a:gd name="adj" fmla="val 4706"/>
            </a:avLst>
          </a:prstGeom>
          <a:solidFill>
            <a:srgbClr val="5C2323"/>
          </a:solidFill>
          <a:ln/>
        </p:spPr>
      </p:sp>
      <p:pic>
        <p:nvPicPr>
          <p:cNvPr id="10" name="Image 2" descr="/home/claude/build/icons/trophy_white.png"/>
          <p:cNvPicPr>
            <a:picLocks noChangeAspect="1"/>
          </p:cNvPicPr>
          <p:nvPr/>
        </p:nvPicPr>
        <p:blipFill>
          <a:blip r:embed="rId3"/>
          <a:stretch>
            <a:fillRect/>
          </a:stretch>
        </p:blipFill>
        <p:spPr>
          <a:xfrm>
            <a:off x="6812280" y="1389888"/>
            <a:ext cx="457200" cy="457200"/>
          </a:xfrm>
          <a:prstGeom prst="rect">
            <a:avLst/>
          </a:prstGeom>
        </p:spPr>
      </p:pic>
      <p:sp>
        <p:nvSpPr>
          <p:cNvPr id="11" name="Text 6"/>
          <p:cNvSpPr/>
          <p:nvPr/>
        </p:nvSpPr>
        <p:spPr>
          <a:xfrm>
            <a:off x="7406640" y="1353312"/>
            <a:ext cx="4160520" cy="59436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Best Vehicle Category: PASSENGER VEHICLES</a:t>
            </a:r>
            <a:endParaRPr lang="en-US" sz="1450" dirty="0"/>
          </a:p>
        </p:txBody>
      </p:sp>
      <p:sp>
        <p:nvSpPr>
          <p:cNvPr id="12" name="Text 7"/>
          <p:cNvSpPr/>
          <p:nvPr/>
        </p:nvSpPr>
        <p:spPr>
          <a:xfrm>
            <a:off x="6812280" y="2011680"/>
            <a:ext cx="4663440" cy="685800"/>
          </a:xfrm>
          <a:prstGeom prst="rect">
            <a:avLst/>
          </a:prstGeom>
          <a:noFill/>
          <a:ln/>
        </p:spPr>
        <p:txBody>
          <a:bodyPr wrap="square" rtlCol="0" anchor="t"/>
          <a:lstStyle/>
          <a:p>
            <a:pPr marL="0" indent="0">
              <a:buNone/>
            </a:pPr>
            <a:r>
              <a:rPr lang="en-US" sz="1100" dirty="0">
                <a:solidFill>
                  <a:srgbClr val="F5EAE7"/>
                </a:solidFill>
                <a:latin typeface="Calibri" pitchFamily="34" charset="0"/>
                <a:ea typeface="Calibri" pitchFamily="34" charset="-122"/>
                <a:cs typeface="Calibri" pitchFamily="34" charset="-120"/>
              </a:rPr>
              <a:t>Higher production, higher sales, and better quality outcomes overall.</a:t>
            </a:r>
            <a:endParaRPr lang="en-US" sz="1100" dirty="0"/>
          </a:p>
        </p:txBody>
      </p:sp>
      <p:sp>
        <p:nvSpPr>
          <p:cNvPr id="13" name="Shape 8"/>
          <p:cNvSpPr/>
          <p:nvPr/>
        </p:nvSpPr>
        <p:spPr>
          <a:xfrm>
            <a:off x="6629400" y="2971800"/>
            <a:ext cx="5074920" cy="2057400"/>
          </a:xfrm>
          <a:prstGeom prst="roundRect">
            <a:avLst>
              <a:gd name="adj" fmla="val 3556"/>
            </a:avLst>
          </a:prstGeom>
          <a:solidFill>
            <a:srgbClr val="F5EAE7"/>
          </a:solidFill>
          <a:ln w="12700">
            <a:solidFill>
              <a:srgbClr val="E9C9C2"/>
            </a:solidFill>
            <a:prstDash val="solid"/>
          </a:ln>
        </p:spPr>
      </p:sp>
      <p:sp>
        <p:nvSpPr>
          <p:cNvPr id="14" name="Text 9"/>
          <p:cNvSpPr/>
          <p:nvPr/>
        </p:nvSpPr>
        <p:spPr>
          <a:xfrm>
            <a:off x="6812280" y="3081528"/>
            <a:ext cx="47091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Business Insight</a:t>
            </a:r>
            <a:endParaRPr lang="en-US" sz="1200" dirty="0"/>
          </a:p>
        </p:txBody>
      </p:sp>
      <p:sp>
        <p:nvSpPr>
          <p:cNvPr id="15" name="Text 10"/>
          <p:cNvSpPr/>
          <p:nvPr/>
        </p:nvSpPr>
        <p:spPr>
          <a:xfrm>
            <a:off x="6812280" y="3374136"/>
            <a:ext cx="4709160" cy="154533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PV vehicles produce fewer defects per unit and generate fewer warranty claims, meaning customers experience fewer post-purchase problems. Since PV also drives higher sales volume, the company should protect and expand this line while applying the same process discipline to lift CV quality.</a:t>
            </a:r>
            <a:endParaRPr lang="en-US" sz="1250" dirty="0"/>
          </a:p>
        </p:txBody>
      </p:sp>
      <p:sp>
        <p:nvSpPr>
          <p:cNvPr id="16" name="Text 1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7"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magnify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5.1</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Quality Analysis — Cost vs Defect Rate</a:t>
            </a:r>
            <a:endParaRPr lang="en-US" sz="2700" dirty="0"/>
          </a:p>
        </p:txBody>
      </p:sp>
      <p:sp>
        <p:nvSpPr>
          <p:cNvPr id="6" name="Shape 3"/>
          <p:cNvSpPr/>
          <p:nvPr/>
        </p:nvSpPr>
        <p:spPr>
          <a:xfrm>
            <a:off x="457200" y="1234440"/>
            <a:ext cx="5943600" cy="5074920"/>
          </a:xfrm>
          <a:prstGeom prst="roundRect">
            <a:avLst>
              <a:gd name="adj" fmla="val 1081"/>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17.png"/>
          <p:cNvPicPr>
            <a:picLocks noChangeAspect="1"/>
          </p:cNvPicPr>
          <p:nvPr/>
        </p:nvPicPr>
        <p:blipFill>
          <a:blip r:embed="rId4"/>
          <a:srcRect/>
          <a:stretch/>
        </p:blipFill>
        <p:spPr>
          <a:xfrm>
            <a:off x="566928" y="1344168"/>
            <a:ext cx="5724144" cy="4581144"/>
          </a:xfrm>
          <a:prstGeom prst="rect">
            <a:avLst/>
          </a:prstGeom>
        </p:spPr>
      </p:pic>
      <p:sp>
        <p:nvSpPr>
          <p:cNvPr id="8" name="Text 4"/>
          <p:cNvSpPr/>
          <p:nvPr/>
        </p:nvSpPr>
        <p:spPr>
          <a:xfrm>
            <a:off x="566928" y="5980176"/>
            <a:ext cx="572414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Production Cost vs Defect Rate (Scatter Plot)</a:t>
            </a:r>
            <a:endParaRPr lang="en-US" sz="1000" dirty="0"/>
          </a:p>
        </p:txBody>
      </p:sp>
      <p:sp>
        <p:nvSpPr>
          <p:cNvPr id="9" name="Shape 5"/>
          <p:cNvSpPr/>
          <p:nvPr/>
        </p:nvSpPr>
        <p:spPr>
          <a:xfrm>
            <a:off x="6629400" y="1234440"/>
            <a:ext cx="5074920" cy="1828800"/>
          </a:xfrm>
          <a:prstGeom prst="roundRect">
            <a:avLst>
              <a:gd name="adj" fmla="val 4000"/>
            </a:avLst>
          </a:prstGeom>
          <a:solidFill>
            <a:srgbClr val="2B2321"/>
          </a:solidFill>
          <a:ln/>
          <a:effectLst>
            <a:outerShdw blurRad="76200" dist="25400" dir="5400000" algn="bl" rotWithShape="0">
              <a:srgbClr val="000000">
                <a:alpha val="25000"/>
              </a:srgbClr>
            </a:outerShdw>
          </a:effectLst>
        </p:spPr>
      </p:sp>
      <p:sp>
        <p:nvSpPr>
          <p:cNvPr id="10" name="Text 6"/>
          <p:cNvSpPr/>
          <p:nvPr/>
        </p:nvSpPr>
        <p:spPr>
          <a:xfrm>
            <a:off x="6766560" y="1307592"/>
            <a:ext cx="4800600" cy="228600"/>
          </a:xfrm>
          <a:prstGeom prst="rect">
            <a:avLst/>
          </a:prstGeom>
          <a:noFill/>
          <a:ln/>
        </p:spPr>
        <p:txBody>
          <a:bodyPr wrap="square" rtlCol="0" anchor="ctr"/>
          <a:lstStyle/>
          <a:p>
            <a:pPr marL="0" indent="0">
              <a:buNone/>
            </a:pPr>
            <a:r>
              <a:rPr lang="en-US" sz="950" b="1" dirty="0">
                <a:solidFill>
                  <a:srgbClr val="E9C9C2"/>
                </a:solidFill>
                <a:latin typeface="Calibri" pitchFamily="34" charset="0"/>
                <a:ea typeface="Calibri" pitchFamily="34" charset="-122"/>
                <a:cs typeface="Calibri" pitchFamily="34" charset="-120"/>
              </a:rPr>
              <a:t>correlation_check.py</a:t>
            </a:r>
            <a:endParaRPr lang="en-US" sz="950" dirty="0"/>
          </a:p>
        </p:txBody>
      </p:sp>
      <p:sp>
        <p:nvSpPr>
          <p:cNvPr id="11" name="Text 7"/>
          <p:cNvSpPr/>
          <p:nvPr/>
        </p:nvSpPr>
        <p:spPr>
          <a:xfrm>
            <a:off x="6766560" y="1554480"/>
            <a:ext cx="4800600" cy="1417320"/>
          </a:xfrm>
          <a:prstGeom prst="rect">
            <a:avLst/>
          </a:prstGeom>
          <a:noFill/>
          <a:ln/>
        </p:spPr>
        <p:txBody>
          <a:bodyPr wrap="square" rtlCol="0" anchor="t"/>
          <a:lstStyle/>
          <a:p>
            <a:pPr marL="0" indent="0">
              <a:lnSpc>
                <a:spcPct val="112000"/>
              </a:lnSpc>
              <a:buNone/>
            </a:pPr>
            <a:r>
              <a:rPr lang="en-US" sz="1200" dirty="0">
                <a:solidFill>
                  <a:srgbClr val="F2E9E7"/>
                </a:solidFill>
                <a:latin typeface="Consolas" pitchFamily="34" charset="0"/>
                <a:ea typeface="Consolas" pitchFamily="34" charset="-122"/>
                <a:cs typeface="Consolas" pitchFamily="34" charset="-120"/>
              </a:rPr>
              <a:t>correlation = df['Production_Cost']\</a:t>
            </a:r>
            <a:endParaRPr lang="en-US" sz="1200" dirty="0"/>
          </a:p>
          <a:p>
            <a:pPr marL="0" indent="0">
              <a:lnSpc>
                <a:spcPct val="112000"/>
              </a:lnSpc>
              <a:buNone/>
            </a:pPr>
            <a:r>
              <a:rPr lang="en-US" sz="1200" dirty="0">
                <a:solidFill>
                  <a:srgbClr val="F2E9E7"/>
                </a:solidFill>
                <a:latin typeface="Consolas" pitchFamily="34" charset="0"/>
                <a:ea typeface="Consolas" pitchFamily="34" charset="-122"/>
                <a:cs typeface="Consolas" pitchFamily="34" charset="-120"/>
              </a:rPr>
              <a:t>                .corr(df['Defect_Rate'])</a:t>
            </a:r>
            <a:endParaRPr lang="en-US" sz="1200" dirty="0"/>
          </a:p>
          <a:p>
            <a:pPr marL="0" indent="0">
              <a:lnSpc>
                <a:spcPct val="112000"/>
              </a:lnSpc>
              <a:buNone/>
            </a:pPr>
            <a:endParaRPr lang="en-US" sz="1200" dirty="0"/>
          </a:p>
          <a:p>
            <a:pPr marL="0" indent="0">
              <a:lnSpc>
                <a:spcPct val="112000"/>
              </a:lnSpc>
              <a:buNone/>
            </a:pPr>
            <a:r>
              <a:rPr lang="en-US" sz="1200" dirty="0">
                <a:solidFill>
                  <a:srgbClr val="F2E9E7"/>
                </a:solidFill>
                <a:latin typeface="Consolas" pitchFamily="34" charset="0"/>
                <a:ea typeface="Consolas" pitchFamily="34" charset="-122"/>
                <a:cs typeface="Consolas" pitchFamily="34" charset="-120"/>
              </a:rPr>
              <a:t>print(round(correlation, 3))</a:t>
            </a:r>
            <a:endParaRPr lang="en-US" sz="1200" dirty="0"/>
          </a:p>
          <a:p>
            <a:pPr marL="0" indent="0">
              <a:lnSpc>
                <a:spcPct val="112000"/>
              </a:lnSpc>
              <a:buNone/>
            </a:pPr>
            <a:r>
              <a:rPr lang="en-US" sz="1200" dirty="0">
                <a:solidFill>
                  <a:srgbClr val="F2E9E7"/>
                </a:solidFill>
                <a:latin typeface="Consolas" pitchFamily="34" charset="0"/>
                <a:ea typeface="Consolas" pitchFamily="34" charset="-122"/>
                <a:cs typeface="Consolas" pitchFamily="34" charset="-120"/>
              </a:rPr>
              <a:t># Output: 0.051</a:t>
            </a:r>
            <a:endParaRPr lang="en-US" sz="1200" dirty="0"/>
          </a:p>
        </p:txBody>
      </p:sp>
      <p:sp>
        <p:nvSpPr>
          <p:cNvPr id="12" name="Shape 8"/>
          <p:cNvSpPr/>
          <p:nvPr/>
        </p:nvSpPr>
        <p:spPr>
          <a:xfrm>
            <a:off x="6629400" y="3291840"/>
            <a:ext cx="5074920" cy="3017520"/>
          </a:xfrm>
          <a:prstGeom prst="roundRect">
            <a:avLst>
              <a:gd name="adj" fmla="val 2424"/>
            </a:avLst>
          </a:prstGeom>
          <a:solidFill>
            <a:srgbClr val="F5EAE7"/>
          </a:solidFill>
          <a:ln w="12700">
            <a:solidFill>
              <a:srgbClr val="E9C9C2"/>
            </a:solidFill>
            <a:prstDash val="solid"/>
          </a:ln>
        </p:spPr>
      </p:sp>
      <p:sp>
        <p:nvSpPr>
          <p:cNvPr id="13" name="Text 9"/>
          <p:cNvSpPr/>
          <p:nvPr/>
        </p:nvSpPr>
        <p:spPr>
          <a:xfrm>
            <a:off x="6812280" y="3401568"/>
            <a:ext cx="47091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a:t>
            </a:r>
            <a:endParaRPr lang="en-US" sz="1200" dirty="0"/>
          </a:p>
        </p:txBody>
      </p:sp>
      <p:sp>
        <p:nvSpPr>
          <p:cNvPr id="14" name="Text 10"/>
          <p:cNvSpPr/>
          <p:nvPr/>
        </p:nvSpPr>
        <p:spPr>
          <a:xfrm>
            <a:off x="6812280" y="3694176"/>
            <a:ext cx="4709160" cy="250545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The correlation between production cost and defect rate is just 0.051 — essentially no relationship. Spending more per unit does not, by itself, buy fewer defects. Quality has to be fixed through process control and inspection discipline, not simply by increasing the production budget.</a:t>
            </a:r>
            <a:endParaRPr lang="en-US" sz="1250" dirty="0"/>
          </a:p>
        </p:txBody>
      </p:sp>
      <p:sp>
        <p:nvSpPr>
          <p:cNvPr id="15" name="Text 1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6"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checklist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5.2</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Inspection Scores &amp; Overall Correlations</a:t>
            </a:r>
            <a:endParaRPr lang="en-US" sz="2700" dirty="0"/>
          </a:p>
        </p:txBody>
      </p:sp>
      <p:sp>
        <p:nvSpPr>
          <p:cNvPr id="6" name="Shape 3"/>
          <p:cNvSpPr/>
          <p:nvPr/>
        </p:nvSpPr>
        <p:spPr>
          <a:xfrm>
            <a:off x="457200" y="1234440"/>
            <a:ext cx="5120640" cy="3977640"/>
          </a:xfrm>
          <a:prstGeom prst="roundRect">
            <a:avLst>
              <a:gd name="adj" fmla="val 1379"/>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19.png"/>
          <p:cNvPicPr>
            <a:picLocks noChangeAspect="1"/>
          </p:cNvPicPr>
          <p:nvPr/>
        </p:nvPicPr>
        <p:blipFill>
          <a:blip r:embed="rId4"/>
          <a:srcRect/>
          <a:stretch/>
        </p:blipFill>
        <p:spPr>
          <a:xfrm>
            <a:off x="566928" y="1344168"/>
            <a:ext cx="4901184" cy="3483864"/>
          </a:xfrm>
          <a:prstGeom prst="rect">
            <a:avLst/>
          </a:prstGeom>
        </p:spPr>
      </p:pic>
      <p:sp>
        <p:nvSpPr>
          <p:cNvPr id="8" name="Text 4"/>
          <p:cNvSpPr/>
          <p:nvPr/>
        </p:nvSpPr>
        <p:spPr>
          <a:xfrm>
            <a:off x="566928" y="4882896"/>
            <a:ext cx="490118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Inspection Score Distribution by Plant</a:t>
            </a:r>
            <a:endParaRPr lang="en-US" sz="1000" dirty="0"/>
          </a:p>
        </p:txBody>
      </p:sp>
      <p:sp>
        <p:nvSpPr>
          <p:cNvPr id="9" name="Shape 5"/>
          <p:cNvSpPr/>
          <p:nvPr/>
        </p:nvSpPr>
        <p:spPr>
          <a:xfrm>
            <a:off x="5715000" y="1234440"/>
            <a:ext cx="5989320" cy="3977640"/>
          </a:xfrm>
          <a:prstGeom prst="roundRect">
            <a:avLst>
              <a:gd name="adj" fmla="val 1379"/>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10" name="Image 2" descr="/home/claude/extract/imgs/chart_020.png"/>
          <p:cNvPicPr>
            <a:picLocks noChangeAspect="1"/>
          </p:cNvPicPr>
          <p:nvPr/>
        </p:nvPicPr>
        <p:blipFill>
          <a:blip r:embed="rId5"/>
          <a:srcRect/>
          <a:stretch/>
        </p:blipFill>
        <p:spPr>
          <a:xfrm>
            <a:off x="5824728" y="1344168"/>
            <a:ext cx="5769864" cy="3483864"/>
          </a:xfrm>
          <a:prstGeom prst="rect">
            <a:avLst/>
          </a:prstGeom>
        </p:spPr>
      </p:pic>
      <p:sp>
        <p:nvSpPr>
          <p:cNvPr id="11" name="Text 6"/>
          <p:cNvSpPr/>
          <p:nvPr/>
        </p:nvSpPr>
        <p:spPr>
          <a:xfrm>
            <a:off x="5824728" y="4882896"/>
            <a:ext cx="576986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Correlation Matrix — All Manufacturing Metrics</a:t>
            </a:r>
            <a:endParaRPr lang="en-US" sz="1000" dirty="0"/>
          </a:p>
        </p:txBody>
      </p:sp>
      <p:sp>
        <p:nvSpPr>
          <p:cNvPr id="12" name="Shape 7"/>
          <p:cNvSpPr/>
          <p:nvPr/>
        </p:nvSpPr>
        <p:spPr>
          <a:xfrm>
            <a:off x="457200" y="5349240"/>
            <a:ext cx="11247120" cy="1005840"/>
          </a:xfrm>
          <a:prstGeom prst="roundRect">
            <a:avLst>
              <a:gd name="adj" fmla="val 7273"/>
            </a:avLst>
          </a:prstGeom>
          <a:solidFill>
            <a:srgbClr val="F5EAE7"/>
          </a:solidFill>
          <a:ln w="12700">
            <a:solidFill>
              <a:srgbClr val="E9C9C2"/>
            </a:solidFill>
            <a:prstDash val="solid"/>
          </a:ln>
        </p:spPr>
      </p:sp>
      <p:sp>
        <p:nvSpPr>
          <p:cNvPr id="13" name="Text 8"/>
          <p:cNvSpPr/>
          <p:nvPr/>
        </p:nvSpPr>
        <p:spPr>
          <a:xfrm>
            <a:off x="621792" y="5404477"/>
            <a:ext cx="1088136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Business Insight</a:t>
            </a:r>
            <a:endParaRPr lang="en-US" sz="1200" dirty="0"/>
          </a:p>
        </p:txBody>
      </p:sp>
      <p:sp>
        <p:nvSpPr>
          <p:cNvPr id="14" name="Text 9"/>
          <p:cNvSpPr/>
          <p:nvPr/>
        </p:nvSpPr>
        <p:spPr>
          <a:xfrm>
            <a:off x="621792" y="5623560"/>
            <a:ext cx="10881360" cy="49377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Inspection quality drops step by step from Plant A (median 96) to Plant D (median 80). The heatmap confirms why this matters: higher inspection scores go with lower defect rates and warranty claims (−0.91, −0.80), and Units Produced tracks Sales almost perfectly (0.99) — the company converts what it builds into what it sells.</a:t>
            </a:r>
            <a:endParaRPr lang="en-US" sz="1250" dirty="0"/>
          </a:p>
        </p:txBody>
      </p:sp>
      <p:sp>
        <p:nvSpPr>
          <p:cNvPr id="15" name="Text 10"/>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6" name="Text 1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speedometer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STEP 6</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Monthly Production Trend (2024–2025)</a:t>
            </a:r>
            <a:endParaRPr lang="en-US" sz="2700" dirty="0"/>
          </a:p>
        </p:txBody>
      </p:sp>
      <p:sp>
        <p:nvSpPr>
          <p:cNvPr id="6" name="Shape 3"/>
          <p:cNvSpPr/>
          <p:nvPr/>
        </p:nvSpPr>
        <p:spPr>
          <a:xfrm>
            <a:off x="457200" y="1234440"/>
            <a:ext cx="7863840" cy="5074920"/>
          </a:xfrm>
          <a:prstGeom prst="roundRect">
            <a:avLst>
              <a:gd name="adj" fmla="val 1081"/>
            </a:avLst>
          </a:prstGeom>
          <a:solidFill>
            <a:srgbClr val="FFFFFF"/>
          </a:solidFill>
          <a:ln w="15875">
            <a:solidFill>
              <a:srgbClr val="E9C9C2"/>
            </a:solidFill>
            <a:prstDash val="solid"/>
          </a:ln>
          <a:effectLst>
            <a:outerShdw blurRad="101600" dist="25400" dir="5400000" algn="bl" rotWithShape="0">
              <a:srgbClr val="5C2323">
                <a:alpha val="18000"/>
              </a:srgbClr>
            </a:outerShdw>
          </a:effectLst>
        </p:spPr>
      </p:sp>
      <p:pic>
        <p:nvPicPr>
          <p:cNvPr id="7" name="Image 1" descr="/home/claude/extract/imgs/chart_021.png"/>
          <p:cNvPicPr>
            <a:picLocks noChangeAspect="1"/>
          </p:cNvPicPr>
          <p:nvPr/>
        </p:nvPicPr>
        <p:blipFill>
          <a:blip r:embed="rId4"/>
          <a:srcRect/>
          <a:stretch/>
        </p:blipFill>
        <p:spPr>
          <a:xfrm>
            <a:off x="566928" y="1344168"/>
            <a:ext cx="7644384" cy="4581144"/>
          </a:xfrm>
          <a:prstGeom prst="rect">
            <a:avLst/>
          </a:prstGeom>
        </p:spPr>
      </p:pic>
      <p:sp>
        <p:nvSpPr>
          <p:cNvPr id="8" name="Text 4"/>
          <p:cNvSpPr/>
          <p:nvPr/>
        </p:nvSpPr>
        <p:spPr>
          <a:xfrm>
            <a:off x="566928" y="5980176"/>
            <a:ext cx="7644384" cy="274320"/>
          </a:xfrm>
          <a:prstGeom prst="rect">
            <a:avLst/>
          </a:prstGeom>
          <a:noFill/>
          <a:ln/>
        </p:spPr>
        <p:txBody>
          <a:bodyPr wrap="square" rtlCol="0" anchor="ctr"/>
          <a:lstStyle/>
          <a:p>
            <a:pPr marL="0" indent="0" algn="ctr">
              <a:buNone/>
            </a:pPr>
            <a:r>
              <a:rPr lang="en-US" sz="1000" i="1" dirty="0">
                <a:solidFill>
                  <a:srgbClr val="6B5E5A"/>
                </a:solidFill>
                <a:latin typeface="Calibri" pitchFamily="34" charset="0"/>
                <a:ea typeface="Calibri" pitchFamily="34" charset="-122"/>
                <a:cs typeface="Calibri" pitchFamily="34" charset="-120"/>
              </a:rPr>
              <a:t>Monthly Units Produced, Year over Year</a:t>
            </a:r>
            <a:endParaRPr lang="en-US" sz="1000" dirty="0"/>
          </a:p>
        </p:txBody>
      </p:sp>
      <p:sp>
        <p:nvSpPr>
          <p:cNvPr id="9" name="Shape 5"/>
          <p:cNvSpPr/>
          <p:nvPr/>
        </p:nvSpPr>
        <p:spPr>
          <a:xfrm>
            <a:off x="8503920" y="1234440"/>
            <a:ext cx="3200400" cy="2286000"/>
          </a:xfrm>
          <a:prstGeom prst="roundRect">
            <a:avLst>
              <a:gd name="adj" fmla="val 3200"/>
            </a:avLst>
          </a:prstGeom>
          <a:solidFill>
            <a:srgbClr val="2B2321"/>
          </a:solidFill>
          <a:ln/>
          <a:effectLst>
            <a:outerShdw blurRad="76200" dist="25400" dir="5400000" algn="bl" rotWithShape="0">
              <a:srgbClr val="000000">
                <a:alpha val="25000"/>
              </a:srgbClr>
            </a:outerShdw>
          </a:effectLst>
        </p:spPr>
      </p:sp>
      <p:sp>
        <p:nvSpPr>
          <p:cNvPr id="10" name="Text 6"/>
          <p:cNvSpPr/>
          <p:nvPr/>
        </p:nvSpPr>
        <p:spPr>
          <a:xfrm>
            <a:off x="8641080" y="1307592"/>
            <a:ext cx="2926080" cy="228600"/>
          </a:xfrm>
          <a:prstGeom prst="rect">
            <a:avLst/>
          </a:prstGeom>
          <a:noFill/>
          <a:ln/>
        </p:spPr>
        <p:txBody>
          <a:bodyPr wrap="square" rtlCol="0" anchor="ctr"/>
          <a:lstStyle/>
          <a:p>
            <a:pPr marL="0" indent="0">
              <a:buNone/>
            </a:pPr>
            <a:r>
              <a:rPr lang="en-US" sz="950" b="1" dirty="0">
                <a:solidFill>
                  <a:srgbClr val="E9C9C2"/>
                </a:solidFill>
                <a:latin typeface="Calibri" pitchFamily="34" charset="0"/>
                <a:ea typeface="Calibri" pitchFamily="34" charset="-122"/>
                <a:cs typeface="Calibri" pitchFamily="34" charset="-120"/>
              </a:rPr>
              <a:t>monthly_trend.py</a:t>
            </a:r>
            <a:endParaRPr lang="en-US" sz="950" dirty="0"/>
          </a:p>
        </p:txBody>
      </p:sp>
      <p:sp>
        <p:nvSpPr>
          <p:cNvPr id="11" name="Text 7"/>
          <p:cNvSpPr/>
          <p:nvPr/>
        </p:nvSpPr>
        <p:spPr>
          <a:xfrm>
            <a:off x="8641080" y="1554480"/>
            <a:ext cx="2926080" cy="1874520"/>
          </a:xfrm>
          <a:prstGeom prst="rect">
            <a:avLst/>
          </a:prstGeom>
          <a:noFill/>
          <a:ln/>
        </p:spPr>
        <p:txBody>
          <a:bodyPr wrap="square" rtlCol="0" anchor="t"/>
          <a:lstStyle/>
          <a:p>
            <a:pPr marL="0" indent="0">
              <a:lnSpc>
                <a:spcPct val="112000"/>
              </a:lnSpc>
              <a:buNone/>
            </a:pPr>
            <a:r>
              <a:rPr lang="en-US" sz="1000" dirty="0">
                <a:solidFill>
                  <a:srgbClr val="F2E9E7"/>
                </a:solidFill>
                <a:latin typeface="Consolas" pitchFamily="34" charset="0"/>
                <a:ea typeface="Consolas" pitchFamily="34" charset="-122"/>
                <a:cs typeface="Consolas" pitchFamily="34" charset="-120"/>
              </a:rPr>
              <a:t>monthly = df.groupby(['Year','Month'])\</a:t>
            </a:r>
            <a:endParaRPr lang="en-US" sz="1000" dirty="0"/>
          </a:p>
          <a:p>
            <a:pPr marL="0" indent="0">
              <a:lnSpc>
                <a:spcPct val="112000"/>
              </a:lnSpc>
              <a:buNone/>
            </a:pPr>
            <a:r>
              <a:rPr lang="en-US" sz="1000" dirty="0">
                <a:solidFill>
                  <a:srgbClr val="F2E9E7"/>
                </a:solidFill>
                <a:latin typeface="Consolas" pitchFamily="34" charset="0"/>
                <a:ea typeface="Consolas" pitchFamily="34" charset="-122"/>
                <a:cs typeface="Consolas" pitchFamily="34" charset="-120"/>
              </a:rPr>
              <a:t>            ['Units_Produced'].sum()</a:t>
            </a:r>
            <a:endParaRPr lang="en-US" sz="1000" dirty="0"/>
          </a:p>
          <a:p>
            <a:pPr marL="0" indent="0">
              <a:lnSpc>
                <a:spcPct val="112000"/>
              </a:lnSpc>
              <a:buNone/>
            </a:pPr>
            <a:endParaRPr lang="en-US" sz="1000" dirty="0"/>
          </a:p>
          <a:p>
            <a:pPr marL="0" indent="0">
              <a:lnSpc>
                <a:spcPct val="112000"/>
              </a:lnSpc>
              <a:buNone/>
            </a:pPr>
            <a:r>
              <a:rPr lang="en-US" sz="1000" dirty="0">
                <a:solidFill>
                  <a:srgbClr val="F2E9E7"/>
                </a:solidFill>
                <a:latin typeface="Consolas" pitchFamily="34" charset="0"/>
                <a:ea typeface="Consolas" pitchFamily="34" charset="-122"/>
                <a:cs typeface="Consolas" pitchFamily="34" charset="-120"/>
              </a:rPr>
              <a:t>sns.lineplot(data=monthly, x='Month',</a:t>
            </a:r>
            <a:endParaRPr lang="en-US" sz="1000" dirty="0"/>
          </a:p>
          <a:p>
            <a:pPr marL="0" indent="0">
              <a:lnSpc>
                <a:spcPct val="112000"/>
              </a:lnSpc>
              <a:buNone/>
            </a:pPr>
            <a:r>
              <a:rPr lang="en-US" sz="1000" dirty="0">
                <a:solidFill>
                  <a:srgbClr val="F2E9E7"/>
                </a:solidFill>
                <a:latin typeface="Consolas" pitchFamily="34" charset="0"/>
                <a:ea typeface="Consolas" pitchFamily="34" charset="-122"/>
                <a:cs typeface="Consolas" pitchFamily="34" charset="-120"/>
              </a:rPr>
              <a:t>     y='Units_Produced', hue='Year')</a:t>
            </a:r>
            <a:endParaRPr lang="en-US" sz="1000" dirty="0"/>
          </a:p>
        </p:txBody>
      </p:sp>
      <p:sp>
        <p:nvSpPr>
          <p:cNvPr id="12" name="Shape 8"/>
          <p:cNvSpPr/>
          <p:nvPr/>
        </p:nvSpPr>
        <p:spPr>
          <a:xfrm>
            <a:off x="8503920" y="3703320"/>
            <a:ext cx="3200400" cy="2606040"/>
          </a:xfrm>
          <a:prstGeom prst="roundRect">
            <a:avLst>
              <a:gd name="adj" fmla="val 2807"/>
            </a:avLst>
          </a:prstGeom>
          <a:solidFill>
            <a:srgbClr val="F5EAE7"/>
          </a:solidFill>
          <a:ln w="12700">
            <a:solidFill>
              <a:srgbClr val="E9C9C2"/>
            </a:solidFill>
            <a:prstDash val="solid"/>
          </a:ln>
        </p:spPr>
      </p:sp>
      <p:sp>
        <p:nvSpPr>
          <p:cNvPr id="13" name="Text 9"/>
          <p:cNvSpPr/>
          <p:nvPr/>
        </p:nvSpPr>
        <p:spPr>
          <a:xfrm>
            <a:off x="8686800" y="3813048"/>
            <a:ext cx="2834640" cy="274320"/>
          </a:xfrm>
          <a:prstGeom prst="rect">
            <a:avLst/>
          </a:prstGeom>
          <a:noFill/>
          <a:ln/>
        </p:spPr>
        <p:txBody>
          <a:bodyPr wrap="square" rtlCol="0" anchor="ctr"/>
          <a:lstStyle/>
          <a:p>
            <a:pPr marL="0" indent="0">
              <a:buNone/>
            </a:pPr>
            <a:r>
              <a:rPr lang="en-US" sz="1200" b="1" dirty="0">
                <a:solidFill>
                  <a:srgbClr val="5C2323"/>
                </a:solidFill>
                <a:latin typeface="Calibri" pitchFamily="34" charset="0"/>
                <a:ea typeface="Calibri" pitchFamily="34" charset="-122"/>
                <a:cs typeface="Calibri" pitchFamily="34" charset="-120"/>
              </a:rPr>
              <a:t>Interpretation</a:t>
            </a:r>
            <a:endParaRPr lang="en-US" sz="1200" dirty="0"/>
          </a:p>
        </p:txBody>
      </p:sp>
      <p:sp>
        <p:nvSpPr>
          <p:cNvPr id="14" name="Text 10"/>
          <p:cNvSpPr/>
          <p:nvPr/>
        </p:nvSpPr>
        <p:spPr>
          <a:xfrm>
            <a:off x="8686800" y="4105656"/>
            <a:ext cx="2834640" cy="2093976"/>
          </a:xfrm>
          <a:prstGeom prst="rect">
            <a:avLst/>
          </a:prstGeom>
          <a:noFill/>
          <a:ln/>
        </p:spPr>
        <p:txBody>
          <a:bodyPr wrap="square" rtlCol="0" anchor="t"/>
          <a:lstStyle/>
          <a:p>
            <a:pPr marL="0" indent="0">
              <a:lnSpc>
                <a:spcPct val="112000"/>
              </a:lnSpc>
              <a:buNone/>
            </a:pPr>
            <a:r>
              <a:rPr lang="en-US" sz="1250" dirty="0">
                <a:solidFill>
                  <a:srgbClr val="2B2321"/>
                </a:solidFill>
                <a:latin typeface="Calibri" pitchFamily="34" charset="0"/>
                <a:ea typeface="Calibri" pitchFamily="34" charset="-122"/>
                <a:cs typeface="Calibri" pitchFamily="34" charset="-120"/>
              </a:rPr>
              <a:t>Production swings across the year, with visible peaks and slower months — likely reflecting seasonal demand and planned maintenance windows rather than random variation.</a:t>
            </a:r>
            <a:endParaRPr lang="en-US" sz="1250" dirty="0"/>
          </a:p>
        </p:txBody>
      </p:sp>
      <p:sp>
        <p:nvSpPr>
          <p:cNvPr id="15" name="Text 1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16" name="Text 1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AE7"/>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5C2323"/>
          </a:solidFill>
          <a:ln/>
        </p:spPr>
      </p:sp>
      <p:pic>
        <p:nvPicPr>
          <p:cNvPr id="3" name="Image 0" descr="/home/claude/build/icons/bulb_white.png"/>
          <p:cNvPicPr>
            <a:picLocks noChangeAspect="1"/>
          </p:cNvPicPr>
          <p:nvPr/>
        </p:nvPicPr>
        <p:blipFill>
          <a:blip r:embed="rId3"/>
          <a:stretch>
            <a:fillRect/>
          </a:stretch>
        </p:blipFill>
        <p:spPr>
          <a:xfrm>
            <a:off x="580644" y="507492"/>
            <a:ext cx="320040" cy="320040"/>
          </a:xfrm>
          <a:prstGeom prst="rect">
            <a:avLst/>
          </a:prstGeom>
        </p:spPr>
      </p:pic>
      <p:sp>
        <p:nvSpPr>
          <p:cNvPr id="4" name="Text 1"/>
          <p:cNvSpPr/>
          <p:nvPr/>
        </p:nvSpPr>
        <p:spPr>
          <a:xfrm>
            <a:off x="1188720" y="347472"/>
            <a:ext cx="8229600" cy="274320"/>
          </a:xfrm>
          <a:prstGeom prst="rect">
            <a:avLst/>
          </a:prstGeom>
          <a:noFill/>
          <a:ln/>
        </p:spPr>
        <p:txBody>
          <a:bodyPr wrap="square" rtlCol="0" anchor="ctr"/>
          <a:lstStyle/>
          <a:p>
            <a:pPr marL="0" indent="0">
              <a:buNone/>
            </a:pPr>
            <a:r>
              <a:rPr lang="en-US" sz="1200" b="1" kern="0" spc="200" dirty="0">
                <a:solidFill>
                  <a:srgbClr val="7A2E2E"/>
                </a:solidFill>
                <a:latin typeface="Calibri" pitchFamily="34" charset="0"/>
                <a:ea typeface="Calibri" pitchFamily="34" charset="-122"/>
                <a:cs typeface="Calibri" pitchFamily="34" charset="-120"/>
              </a:rPr>
              <a:t>CONCLUSION</a:t>
            </a:r>
            <a:endParaRPr lang="en-US" sz="1200" dirty="0"/>
          </a:p>
        </p:txBody>
      </p:sp>
      <p:sp>
        <p:nvSpPr>
          <p:cNvPr id="5" name="Text 2"/>
          <p:cNvSpPr/>
          <p:nvPr/>
        </p:nvSpPr>
        <p:spPr>
          <a:xfrm>
            <a:off x="1188720" y="566928"/>
            <a:ext cx="10241280" cy="502920"/>
          </a:xfrm>
          <a:prstGeom prst="rect">
            <a:avLst/>
          </a:prstGeom>
          <a:noFill/>
          <a:ln/>
        </p:spPr>
        <p:txBody>
          <a:bodyPr wrap="square" rtlCol="0" anchor="ctr"/>
          <a:lstStyle/>
          <a:p>
            <a:pPr marL="0" indent="0">
              <a:buNone/>
            </a:pPr>
            <a:r>
              <a:rPr lang="en-US" sz="2700" b="1" dirty="0">
                <a:solidFill>
                  <a:srgbClr val="2B2321"/>
                </a:solidFill>
                <a:latin typeface="Cambria" pitchFamily="34" charset="0"/>
                <a:ea typeface="Cambria" pitchFamily="34" charset="-122"/>
                <a:cs typeface="Cambria" pitchFamily="34" charset="-120"/>
              </a:rPr>
              <a:t>Recommendations to Reduce Defects &amp; Improve Efficiency</a:t>
            </a:r>
            <a:endParaRPr lang="en-US" sz="2700" dirty="0"/>
          </a:p>
        </p:txBody>
      </p:sp>
      <p:sp>
        <p:nvSpPr>
          <p:cNvPr id="6" name="Shape 3"/>
          <p:cNvSpPr/>
          <p:nvPr/>
        </p:nvSpPr>
        <p:spPr>
          <a:xfrm>
            <a:off x="457200" y="1325880"/>
            <a:ext cx="3611880" cy="2514600"/>
          </a:xfrm>
          <a:prstGeom prst="roundRect">
            <a:avLst>
              <a:gd name="adj" fmla="val 2909"/>
            </a:avLst>
          </a:prstGeom>
          <a:solidFill>
            <a:srgbClr val="FFFFFF"/>
          </a:solidFill>
          <a:ln w="12700">
            <a:solidFill>
              <a:srgbClr val="E9C9C2"/>
            </a:solidFill>
            <a:prstDash val="solid"/>
          </a:ln>
        </p:spPr>
      </p:sp>
      <p:sp>
        <p:nvSpPr>
          <p:cNvPr id="7" name="Shape 4"/>
          <p:cNvSpPr/>
          <p:nvPr/>
        </p:nvSpPr>
        <p:spPr>
          <a:xfrm>
            <a:off x="685800" y="1554480"/>
            <a:ext cx="548640" cy="548640"/>
          </a:xfrm>
          <a:prstGeom prst="ellipse">
            <a:avLst/>
          </a:prstGeom>
          <a:solidFill>
            <a:srgbClr val="5C2323"/>
          </a:solidFill>
          <a:ln/>
        </p:spPr>
      </p:sp>
      <p:pic>
        <p:nvPicPr>
          <p:cNvPr id="8" name="Image 1" descr="/home/claude/build/icons/factory_white.png"/>
          <p:cNvPicPr>
            <a:picLocks noChangeAspect="1"/>
          </p:cNvPicPr>
          <p:nvPr/>
        </p:nvPicPr>
        <p:blipFill>
          <a:blip r:embed="rId4"/>
          <a:stretch>
            <a:fillRect/>
          </a:stretch>
        </p:blipFill>
        <p:spPr>
          <a:xfrm>
            <a:off x="804672" y="1673352"/>
            <a:ext cx="310896" cy="310896"/>
          </a:xfrm>
          <a:prstGeom prst="rect">
            <a:avLst/>
          </a:prstGeom>
        </p:spPr>
      </p:pic>
      <p:sp>
        <p:nvSpPr>
          <p:cNvPr id="9" name="Text 5"/>
          <p:cNvSpPr/>
          <p:nvPr/>
        </p:nvSpPr>
        <p:spPr>
          <a:xfrm>
            <a:off x="1371600" y="1508760"/>
            <a:ext cx="2514600" cy="685800"/>
          </a:xfrm>
          <a:prstGeom prst="rect">
            <a:avLst/>
          </a:prstGeom>
          <a:noFill/>
          <a:ln/>
        </p:spPr>
        <p:txBody>
          <a:bodyPr wrap="square" rtlCol="0" anchor="t"/>
          <a:lstStyle/>
          <a:p>
            <a:pPr marL="0" indent="0">
              <a:lnSpc>
                <a:spcPct val="105000"/>
              </a:lnSpc>
              <a:buNone/>
            </a:pPr>
            <a:r>
              <a:rPr lang="en-US" sz="1400" b="1" dirty="0">
                <a:solidFill>
                  <a:srgbClr val="2B2321"/>
                </a:solidFill>
                <a:latin typeface="Cambria" pitchFamily="34" charset="0"/>
                <a:ea typeface="Cambria" pitchFamily="34" charset="-122"/>
                <a:cs typeface="Cambria" pitchFamily="34" charset="-120"/>
              </a:rPr>
              <a:t>Standardize on Plant A's playbook</a:t>
            </a:r>
            <a:endParaRPr lang="en-US" sz="1400" dirty="0"/>
          </a:p>
        </p:txBody>
      </p:sp>
      <p:sp>
        <p:nvSpPr>
          <p:cNvPr id="10" name="Text 6"/>
          <p:cNvSpPr/>
          <p:nvPr/>
        </p:nvSpPr>
        <p:spPr>
          <a:xfrm>
            <a:off x="685800" y="2377440"/>
            <a:ext cx="3154680" cy="1280160"/>
          </a:xfrm>
          <a:prstGeom prst="rect">
            <a:avLst/>
          </a:prstGeom>
          <a:noFill/>
          <a:ln/>
        </p:spPr>
        <p:txBody>
          <a:bodyPr wrap="square" rtlCol="0" anchor="t"/>
          <a:lstStyle/>
          <a:p>
            <a:pPr marL="0" indent="0">
              <a:lnSpc>
                <a:spcPct val="120000"/>
              </a:lnSpc>
              <a:buNone/>
            </a:pPr>
            <a:r>
              <a:rPr lang="en-US" sz="1150" dirty="0">
                <a:solidFill>
                  <a:srgbClr val="6B5E5A"/>
                </a:solidFill>
                <a:latin typeface="Calibri" pitchFamily="34" charset="0"/>
                <a:ea typeface="Calibri" pitchFamily="34" charset="-122"/>
                <a:cs typeface="Calibri" pitchFamily="34" charset="-120"/>
              </a:rPr>
              <a:t>Share Plant A's process discipline, maintenance routine, and inspection cadence with Plants B, C and D.</a:t>
            </a:r>
            <a:endParaRPr lang="en-US" sz="1150" dirty="0"/>
          </a:p>
        </p:txBody>
      </p:sp>
      <p:sp>
        <p:nvSpPr>
          <p:cNvPr id="11" name="Shape 7"/>
          <p:cNvSpPr/>
          <p:nvPr/>
        </p:nvSpPr>
        <p:spPr>
          <a:xfrm>
            <a:off x="4206240" y="1325880"/>
            <a:ext cx="3611880" cy="2514600"/>
          </a:xfrm>
          <a:prstGeom prst="roundRect">
            <a:avLst>
              <a:gd name="adj" fmla="val 2909"/>
            </a:avLst>
          </a:prstGeom>
          <a:solidFill>
            <a:srgbClr val="FFFFFF"/>
          </a:solidFill>
          <a:ln w="12700">
            <a:solidFill>
              <a:srgbClr val="E9C9C2"/>
            </a:solidFill>
            <a:prstDash val="solid"/>
          </a:ln>
        </p:spPr>
      </p:sp>
      <p:sp>
        <p:nvSpPr>
          <p:cNvPr id="12" name="Shape 8"/>
          <p:cNvSpPr/>
          <p:nvPr/>
        </p:nvSpPr>
        <p:spPr>
          <a:xfrm>
            <a:off x="4434840" y="1554480"/>
            <a:ext cx="548640" cy="548640"/>
          </a:xfrm>
          <a:prstGeom prst="ellipse">
            <a:avLst/>
          </a:prstGeom>
          <a:solidFill>
            <a:srgbClr val="5C2323"/>
          </a:solidFill>
          <a:ln/>
        </p:spPr>
      </p:sp>
      <p:pic>
        <p:nvPicPr>
          <p:cNvPr id="13" name="Image 2" descr="/home/claude/build/icons/checklist_white.png"/>
          <p:cNvPicPr>
            <a:picLocks noChangeAspect="1"/>
          </p:cNvPicPr>
          <p:nvPr/>
        </p:nvPicPr>
        <p:blipFill>
          <a:blip r:embed="rId5"/>
          <a:stretch>
            <a:fillRect/>
          </a:stretch>
        </p:blipFill>
        <p:spPr>
          <a:xfrm>
            <a:off x="4553712" y="1673352"/>
            <a:ext cx="310896" cy="310896"/>
          </a:xfrm>
          <a:prstGeom prst="rect">
            <a:avLst/>
          </a:prstGeom>
        </p:spPr>
      </p:pic>
      <p:sp>
        <p:nvSpPr>
          <p:cNvPr id="14" name="Text 9"/>
          <p:cNvSpPr/>
          <p:nvPr/>
        </p:nvSpPr>
        <p:spPr>
          <a:xfrm>
            <a:off x="5120640" y="1508760"/>
            <a:ext cx="2514600" cy="685800"/>
          </a:xfrm>
          <a:prstGeom prst="rect">
            <a:avLst/>
          </a:prstGeom>
          <a:noFill/>
          <a:ln/>
        </p:spPr>
        <p:txBody>
          <a:bodyPr wrap="square" rtlCol="0" anchor="t"/>
          <a:lstStyle/>
          <a:p>
            <a:pPr marL="0" indent="0">
              <a:lnSpc>
                <a:spcPct val="105000"/>
              </a:lnSpc>
              <a:buNone/>
            </a:pPr>
            <a:r>
              <a:rPr lang="en-US" sz="1400" b="1" dirty="0">
                <a:solidFill>
                  <a:srgbClr val="2B2321"/>
                </a:solidFill>
                <a:latin typeface="Cambria" pitchFamily="34" charset="0"/>
                <a:ea typeface="Cambria" pitchFamily="34" charset="-122"/>
                <a:cs typeface="Cambria" pitchFamily="34" charset="-120"/>
              </a:rPr>
              <a:t>Tighten inspections where scores are low</a:t>
            </a:r>
            <a:endParaRPr lang="en-US" sz="1400" dirty="0"/>
          </a:p>
        </p:txBody>
      </p:sp>
      <p:sp>
        <p:nvSpPr>
          <p:cNvPr id="15" name="Text 10"/>
          <p:cNvSpPr/>
          <p:nvPr/>
        </p:nvSpPr>
        <p:spPr>
          <a:xfrm>
            <a:off x="4434840" y="2377440"/>
            <a:ext cx="3154680" cy="1280160"/>
          </a:xfrm>
          <a:prstGeom prst="rect">
            <a:avLst/>
          </a:prstGeom>
          <a:noFill/>
          <a:ln/>
        </p:spPr>
        <p:txBody>
          <a:bodyPr wrap="square" rtlCol="0" anchor="t"/>
          <a:lstStyle/>
          <a:p>
            <a:pPr marL="0" indent="0">
              <a:lnSpc>
                <a:spcPct val="120000"/>
              </a:lnSpc>
              <a:buNone/>
            </a:pPr>
            <a:r>
              <a:rPr lang="en-US" sz="1150" dirty="0">
                <a:solidFill>
                  <a:srgbClr val="6B5E5A"/>
                </a:solidFill>
                <a:latin typeface="Calibri" pitchFamily="34" charset="0"/>
                <a:ea typeface="Calibri" pitchFamily="34" charset="-122"/>
                <a:cs typeface="Calibri" pitchFamily="34" charset="-120"/>
              </a:rPr>
              <a:t>Prioritize Plant C and Plant D with more frequent, stricter quality checks.</a:t>
            </a:r>
            <a:endParaRPr lang="en-US" sz="1150" dirty="0"/>
          </a:p>
        </p:txBody>
      </p:sp>
      <p:sp>
        <p:nvSpPr>
          <p:cNvPr id="16" name="Shape 11"/>
          <p:cNvSpPr/>
          <p:nvPr/>
        </p:nvSpPr>
        <p:spPr>
          <a:xfrm>
            <a:off x="7955280" y="1325880"/>
            <a:ext cx="3611880" cy="2514600"/>
          </a:xfrm>
          <a:prstGeom prst="roundRect">
            <a:avLst>
              <a:gd name="adj" fmla="val 2909"/>
            </a:avLst>
          </a:prstGeom>
          <a:solidFill>
            <a:srgbClr val="FFFFFF"/>
          </a:solidFill>
          <a:ln w="12700">
            <a:solidFill>
              <a:srgbClr val="E9C9C2"/>
            </a:solidFill>
            <a:prstDash val="solid"/>
          </a:ln>
        </p:spPr>
      </p:sp>
      <p:sp>
        <p:nvSpPr>
          <p:cNvPr id="17" name="Shape 12"/>
          <p:cNvSpPr/>
          <p:nvPr/>
        </p:nvSpPr>
        <p:spPr>
          <a:xfrm>
            <a:off x="8183880" y="1554480"/>
            <a:ext cx="548640" cy="548640"/>
          </a:xfrm>
          <a:prstGeom prst="ellipse">
            <a:avLst/>
          </a:prstGeom>
          <a:solidFill>
            <a:srgbClr val="5C2323"/>
          </a:solidFill>
          <a:ln/>
        </p:spPr>
      </p:sp>
      <p:pic>
        <p:nvPicPr>
          <p:cNvPr id="18" name="Image 3" descr="/home/claude/build/icons/toolbox_white.png"/>
          <p:cNvPicPr>
            <a:picLocks noChangeAspect="1"/>
          </p:cNvPicPr>
          <p:nvPr/>
        </p:nvPicPr>
        <p:blipFill>
          <a:blip r:embed="rId6"/>
          <a:stretch>
            <a:fillRect/>
          </a:stretch>
        </p:blipFill>
        <p:spPr>
          <a:xfrm>
            <a:off x="8302752" y="1673352"/>
            <a:ext cx="310896" cy="310896"/>
          </a:xfrm>
          <a:prstGeom prst="rect">
            <a:avLst/>
          </a:prstGeom>
        </p:spPr>
      </p:pic>
      <p:sp>
        <p:nvSpPr>
          <p:cNvPr id="19" name="Text 13"/>
          <p:cNvSpPr/>
          <p:nvPr/>
        </p:nvSpPr>
        <p:spPr>
          <a:xfrm>
            <a:off x="8869680" y="1508760"/>
            <a:ext cx="2514600" cy="685800"/>
          </a:xfrm>
          <a:prstGeom prst="rect">
            <a:avLst/>
          </a:prstGeom>
          <a:noFill/>
          <a:ln/>
        </p:spPr>
        <p:txBody>
          <a:bodyPr wrap="square" rtlCol="0" anchor="t"/>
          <a:lstStyle/>
          <a:p>
            <a:pPr marL="0" indent="0">
              <a:lnSpc>
                <a:spcPct val="105000"/>
              </a:lnSpc>
              <a:buNone/>
            </a:pPr>
            <a:r>
              <a:rPr lang="en-US" sz="1400" b="1" dirty="0">
                <a:solidFill>
                  <a:srgbClr val="2B2321"/>
                </a:solidFill>
                <a:latin typeface="Cambria" pitchFamily="34" charset="0"/>
                <a:ea typeface="Cambria" pitchFamily="34" charset="-122"/>
                <a:cs typeface="Cambria" pitchFamily="34" charset="-120"/>
              </a:rPr>
              <a:t>Invest in preventive maintenance</a:t>
            </a:r>
            <a:endParaRPr lang="en-US" sz="1400" dirty="0"/>
          </a:p>
        </p:txBody>
      </p:sp>
      <p:sp>
        <p:nvSpPr>
          <p:cNvPr id="20" name="Text 14"/>
          <p:cNvSpPr/>
          <p:nvPr/>
        </p:nvSpPr>
        <p:spPr>
          <a:xfrm>
            <a:off x="8183880" y="2377440"/>
            <a:ext cx="3154680" cy="1280160"/>
          </a:xfrm>
          <a:prstGeom prst="rect">
            <a:avLst/>
          </a:prstGeom>
          <a:noFill/>
          <a:ln/>
        </p:spPr>
        <p:txBody>
          <a:bodyPr wrap="square" rtlCol="0" anchor="t"/>
          <a:lstStyle/>
          <a:p>
            <a:pPr marL="0" indent="0">
              <a:lnSpc>
                <a:spcPct val="120000"/>
              </a:lnSpc>
              <a:buNone/>
            </a:pPr>
            <a:r>
              <a:rPr lang="en-US" sz="1150" dirty="0">
                <a:solidFill>
                  <a:srgbClr val="6B5E5A"/>
                </a:solidFill>
                <a:latin typeface="Calibri" pitchFamily="34" charset="0"/>
                <a:ea typeface="Calibri" pitchFamily="34" charset="-122"/>
                <a:cs typeface="Calibri" pitchFamily="34" charset="-120"/>
              </a:rPr>
              <a:t>Reduce equipment-driven defects instead of relying on higher spending alone.</a:t>
            </a:r>
            <a:endParaRPr lang="en-US" sz="1150" dirty="0"/>
          </a:p>
        </p:txBody>
      </p:sp>
      <p:sp>
        <p:nvSpPr>
          <p:cNvPr id="21" name="Shape 15"/>
          <p:cNvSpPr/>
          <p:nvPr/>
        </p:nvSpPr>
        <p:spPr>
          <a:xfrm>
            <a:off x="457200" y="4023360"/>
            <a:ext cx="3611880" cy="2514600"/>
          </a:xfrm>
          <a:prstGeom prst="roundRect">
            <a:avLst>
              <a:gd name="adj" fmla="val 2909"/>
            </a:avLst>
          </a:prstGeom>
          <a:solidFill>
            <a:srgbClr val="FFFFFF"/>
          </a:solidFill>
          <a:ln w="12700">
            <a:solidFill>
              <a:srgbClr val="E9C9C2"/>
            </a:solidFill>
            <a:prstDash val="solid"/>
          </a:ln>
        </p:spPr>
      </p:sp>
      <p:sp>
        <p:nvSpPr>
          <p:cNvPr id="22" name="Shape 16"/>
          <p:cNvSpPr/>
          <p:nvPr/>
        </p:nvSpPr>
        <p:spPr>
          <a:xfrm>
            <a:off x="685800" y="4251960"/>
            <a:ext cx="548640" cy="548640"/>
          </a:xfrm>
          <a:prstGeom prst="ellipse">
            <a:avLst/>
          </a:prstGeom>
          <a:solidFill>
            <a:srgbClr val="5C2323"/>
          </a:solidFill>
          <a:ln/>
        </p:spPr>
      </p:sp>
      <p:pic>
        <p:nvPicPr>
          <p:cNvPr id="23" name="Image 4" descr="/home/claude/build/icons/steering_white.png"/>
          <p:cNvPicPr>
            <a:picLocks noChangeAspect="1"/>
          </p:cNvPicPr>
          <p:nvPr/>
        </p:nvPicPr>
        <p:blipFill>
          <a:blip r:embed="rId7"/>
          <a:stretch>
            <a:fillRect/>
          </a:stretch>
        </p:blipFill>
        <p:spPr>
          <a:xfrm>
            <a:off x="804672" y="4370832"/>
            <a:ext cx="310896" cy="310896"/>
          </a:xfrm>
          <a:prstGeom prst="rect">
            <a:avLst/>
          </a:prstGeom>
        </p:spPr>
      </p:pic>
      <p:sp>
        <p:nvSpPr>
          <p:cNvPr id="24" name="Text 17"/>
          <p:cNvSpPr/>
          <p:nvPr/>
        </p:nvSpPr>
        <p:spPr>
          <a:xfrm>
            <a:off x="1371600" y="4206240"/>
            <a:ext cx="2514600" cy="685800"/>
          </a:xfrm>
          <a:prstGeom prst="rect">
            <a:avLst/>
          </a:prstGeom>
          <a:noFill/>
          <a:ln/>
        </p:spPr>
        <p:txBody>
          <a:bodyPr wrap="square" rtlCol="0" anchor="t"/>
          <a:lstStyle/>
          <a:p>
            <a:pPr marL="0" indent="0">
              <a:lnSpc>
                <a:spcPct val="105000"/>
              </a:lnSpc>
              <a:buNone/>
            </a:pPr>
            <a:r>
              <a:rPr lang="en-US" sz="1400" b="1" dirty="0">
                <a:solidFill>
                  <a:srgbClr val="2B2321"/>
                </a:solidFill>
                <a:latin typeface="Cambria" pitchFamily="34" charset="0"/>
                <a:ea typeface="Cambria" pitchFamily="34" charset="-122"/>
                <a:cs typeface="Cambria" pitchFamily="34" charset="-120"/>
              </a:rPr>
              <a:t>Protect the PV growth engine</a:t>
            </a:r>
            <a:endParaRPr lang="en-US" sz="1400" dirty="0"/>
          </a:p>
        </p:txBody>
      </p:sp>
      <p:sp>
        <p:nvSpPr>
          <p:cNvPr id="25" name="Text 18"/>
          <p:cNvSpPr/>
          <p:nvPr/>
        </p:nvSpPr>
        <p:spPr>
          <a:xfrm>
            <a:off x="685800" y="5074920"/>
            <a:ext cx="3154680" cy="1280160"/>
          </a:xfrm>
          <a:prstGeom prst="rect">
            <a:avLst/>
          </a:prstGeom>
          <a:noFill/>
          <a:ln/>
        </p:spPr>
        <p:txBody>
          <a:bodyPr wrap="square" rtlCol="0" anchor="t"/>
          <a:lstStyle/>
          <a:p>
            <a:pPr marL="0" indent="0">
              <a:lnSpc>
                <a:spcPct val="120000"/>
              </a:lnSpc>
              <a:buNone/>
            </a:pPr>
            <a:r>
              <a:rPr lang="en-US" sz="1150" dirty="0">
                <a:solidFill>
                  <a:srgbClr val="6B5E5A"/>
                </a:solidFill>
                <a:latin typeface="Calibri" pitchFamily="34" charset="0"/>
                <a:ea typeface="Calibri" pitchFamily="34" charset="-122"/>
                <a:cs typeface="Calibri" pitchFamily="34" charset="-120"/>
              </a:rPr>
              <a:t>Keep investing in Passenger Vehicles while lifting CV quality to match.</a:t>
            </a:r>
            <a:endParaRPr lang="en-US" sz="1150" dirty="0"/>
          </a:p>
        </p:txBody>
      </p:sp>
      <p:sp>
        <p:nvSpPr>
          <p:cNvPr id="26" name="Shape 19"/>
          <p:cNvSpPr/>
          <p:nvPr/>
        </p:nvSpPr>
        <p:spPr>
          <a:xfrm>
            <a:off x="4206240" y="4023360"/>
            <a:ext cx="3611880" cy="2514600"/>
          </a:xfrm>
          <a:prstGeom prst="roundRect">
            <a:avLst>
              <a:gd name="adj" fmla="val 2909"/>
            </a:avLst>
          </a:prstGeom>
          <a:solidFill>
            <a:srgbClr val="FFFFFF"/>
          </a:solidFill>
          <a:ln w="12700">
            <a:solidFill>
              <a:srgbClr val="E9C9C2"/>
            </a:solidFill>
            <a:prstDash val="solid"/>
          </a:ln>
        </p:spPr>
      </p:sp>
      <p:sp>
        <p:nvSpPr>
          <p:cNvPr id="27" name="Shape 20"/>
          <p:cNvSpPr/>
          <p:nvPr/>
        </p:nvSpPr>
        <p:spPr>
          <a:xfrm>
            <a:off x="4434840" y="4251960"/>
            <a:ext cx="548640" cy="548640"/>
          </a:xfrm>
          <a:prstGeom prst="ellipse">
            <a:avLst/>
          </a:prstGeom>
          <a:solidFill>
            <a:srgbClr val="5C2323"/>
          </a:solidFill>
          <a:ln/>
        </p:spPr>
      </p:sp>
      <p:pic>
        <p:nvPicPr>
          <p:cNvPr id="28" name="Image 5" descr="/home/claude/build/icons/speedometer_white.png"/>
          <p:cNvPicPr>
            <a:picLocks noChangeAspect="1"/>
          </p:cNvPicPr>
          <p:nvPr/>
        </p:nvPicPr>
        <p:blipFill>
          <a:blip r:embed="rId8"/>
          <a:stretch>
            <a:fillRect/>
          </a:stretch>
        </p:blipFill>
        <p:spPr>
          <a:xfrm>
            <a:off x="4553712" y="4370832"/>
            <a:ext cx="310896" cy="310896"/>
          </a:xfrm>
          <a:prstGeom prst="rect">
            <a:avLst/>
          </a:prstGeom>
        </p:spPr>
      </p:pic>
      <p:sp>
        <p:nvSpPr>
          <p:cNvPr id="29" name="Text 21"/>
          <p:cNvSpPr/>
          <p:nvPr/>
        </p:nvSpPr>
        <p:spPr>
          <a:xfrm>
            <a:off x="5120640" y="4206240"/>
            <a:ext cx="2514600" cy="685800"/>
          </a:xfrm>
          <a:prstGeom prst="rect">
            <a:avLst/>
          </a:prstGeom>
          <a:noFill/>
          <a:ln/>
        </p:spPr>
        <p:txBody>
          <a:bodyPr wrap="square" rtlCol="0" anchor="t"/>
          <a:lstStyle/>
          <a:p>
            <a:pPr marL="0" indent="0">
              <a:lnSpc>
                <a:spcPct val="105000"/>
              </a:lnSpc>
              <a:buNone/>
            </a:pPr>
            <a:r>
              <a:rPr lang="en-US" sz="1400" b="1" dirty="0">
                <a:solidFill>
                  <a:srgbClr val="2B2321"/>
                </a:solidFill>
                <a:latin typeface="Cambria" pitchFamily="34" charset="0"/>
                <a:ea typeface="Cambria" pitchFamily="34" charset="-122"/>
                <a:cs typeface="Cambria" pitchFamily="34" charset="-120"/>
              </a:rPr>
              <a:t>Monitor with a live dashboard</a:t>
            </a:r>
            <a:endParaRPr lang="en-US" sz="1400" dirty="0"/>
          </a:p>
        </p:txBody>
      </p:sp>
      <p:sp>
        <p:nvSpPr>
          <p:cNvPr id="30" name="Text 22"/>
          <p:cNvSpPr/>
          <p:nvPr/>
        </p:nvSpPr>
        <p:spPr>
          <a:xfrm>
            <a:off x="4434840" y="5074920"/>
            <a:ext cx="3154680" cy="1280160"/>
          </a:xfrm>
          <a:prstGeom prst="rect">
            <a:avLst/>
          </a:prstGeom>
          <a:noFill/>
          <a:ln/>
        </p:spPr>
        <p:txBody>
          <a:bodyPr wrap="square" rtlCol="0" anchor="t"/>
          <a:lstStyle/>
          <a:p>
            <a:pPr marL="0" indent="0">
              <a:lnSpc>
                <a:spcPct val="120000"/>
              </a:lnSpc>
              <a:buNone/>
            </a:pPr>
            <a:r>
              <a:rPr lang="en-US" sz="1150" dirty="0">
                <a:solidFill>
                  <a:srgbClr val="6B5E5A"/>
                </a:solidFill>
                <a:latin typeface="Calibri" pitchFamily="34" charset="0"/>
                <a:ea typeface="Calibri" pitchFamily="34" charset="-122"/>
                <a:cs typeface="Calibri" pitchFamily="34" charset="-120"/>
              </a:rPr>
              <a:t>Track efficiency, defect rate and inspection score monthly, by plant.</a:t>
            </a:r>
            <a:endParaRPr lang="en-US" sz="1150" dirty="0"/>
          </a:p>
        </p:txBody>
      </p:sp>
      <p:sp>
        <p:nvSpPr>
          <p:cNvPr id="31" name="Shape 23"/>
          <p:cNvSpPr/>
          <p:nvPr/>
        </p:nvSpPr>
        <p:spPr>
          <a:xfrm>
            <a:off x="7955280" y="4023360"/>
            <a:ext cx="3611880" cy="2514600"/>
          </a:xfrm>
          <a:prstGeom prst="roundRect">
            <a:avLst>
              <a:gd name="adj" fmla="val 2909"/>
            </a:avLst>
          </a:prstGeom>
          <a:solidFill>
            <a:srgbClr val="FFFFFF"/>
          </a:solidFill>
          <a:ln w="12700">
            <a:solidFill>
              <a:srgbClr val="E9C9C2"/>
            </a:solidFill>
            <a:prstDash val="solid"/>
          </a:ln>
        </p:spPr>
      </p:sp>
      <p:sp>
        <p:nvSpPr>
          <p:cNvPr id="32" name="Shape 24"/>
          <p:cNvSpPr/>
          <p:nvPr/>
        </p:nvSpPr>
        <p:spPr>
          <a:xfrm>
            <a:off x="8183880" y="4251960"/>
            <a:ext cx="548640" cy="548640"/>
          </a:xfrm>
          <a:prstGeom prst="ellipse">
            <a:avLst/>
          </a:prstGeom>
          <a:solidFill>
            <a:srgbClr val="5C2323"/>
          </a:solidFill>
          <a:ln/>
        </p:spPr>
      </p:sp>
      <p:pic>
        <p:nvPicPr>
          <p:cNvPr id="33" name="Image 6" descr="/home/claude/build/icons/piechart_white.png"/>
          <p:cNvPicPr>
            <a:picLocks noChangeAspect="1"/>
          </p:cNvPicPr>
          <p:nvPr/>
        </p:nvPicPr>
        <p:blipFill>
          <a:blip r:embed="rId9"/>
          <a:stretch>
            <a:fillRect/>
          </a:stretch>
        </p:blipFill>
        <p:spPr>
          <a:xfrm>
            <a:off x="8302752" y="4370832"/>
            <a:ext cx="310896" cy="310896"/>
          </a:xfrm>
          <a:prstGeom prst="rect">
            <a:avLst/>
          </a:prstGeom>
        </p:spPr>
      </p:pic>
      <p:sp>
        <p:nvSpPr>
          <p:cNvPr id="34" name="Text 25"/>
          <p:cNvSpPr/>
          <p:nvPr/>
        </p:nvSpPr>
        <p:spPr>
          <a:xfrm>
            <a:off x="8869680" y="4206240"/>
            <a:ext cx="2514600" cy="685800"/>
          </a:xfrm>
          <a:prstGeom prst="rect">
            <a:avLst/>
          </a:prstGeom>
          <a:noFill/>
          <a:ln/>
        </p:spPr>
        <p:txBody>
          <a:bodyPr wrap="square" rtlCol="0" anchor="t"/>
          <a:lstStyle/>
          <a:p>
            <a:pPr marL="0" indent="0">
              <a:lnSpc>
                <a:spcPct val="105000"/>
              </a:lnSpc>
              <a:buNone/>
            </a:pPr>
            <a:r>
              <a:rPr lang="en-US" sz="1400" b="1" dirty="0">
                <a:solidFill>
                  <a:srgbClr val="2B2321"/>
                </a:solidFill>
                <a:latin typeface="Cambria" pitchFamily="34" charset="0"/>
                <a:ea typeface="Cambria" pitchFamily="34" charset="-122"/>
                <a:cs typeface="Cambria" pitchFamily="34" charset="-120"/>
              </a:rPr>
              <a:t>Plan capacity around demand</a:t>
            </a:r>
            <a:endParaRPr lang="en-US" sz="1400" dirty="0"/>
          </a:p>
        </p:txBody>
      </p:sp>
      <p:sp>
        <p:nvSpPr>
          <p:cNvPr id="35" name="Text 26"/>
          <p:cNvSpPr/>
          <p:nvPr/>
        </p:nvSpPr>
        <p:spPr>
          <a:xfrm>
            <a:off x="8183880" y="5074920"/>
            <a:ext cx="3154680" cy="1280160"/>
          </a:xfrm>
          <a:prstGeom prst="rect">
            <a:avLst/>
          </a:prstGeom>
          <a:noFill/>
          <a:ln/>
        </p:spPr>
        <p:txBody>
          <a:bodyPr wrap="square" rtlCol="0" anchor="t"/>
          <a:lstStyle/>
          <a:p>
            <a:pPr marL="0" indent="0">
              <a:lnSpc>
                <a:spcPct val="120000"/>
              </a:lnSpc>
              <a:buNone/>
            </a:pPr>
            <a:r>
              <a:rPr lang="en-US" sz="1150" dirty="0">
                <a:solidFill>
                  <a:srgbClr val="6B5E5A"/>
                </a:solidFill>
                <a:latin typeface="Calibri" pitchFamily="34" charset="0"/>
                <a:ea typeface="Calibri" pitchFamily="34" charset="-122"/>
                <a:cs typeface="Calibri" pitchFamily="34" charset="-120"/>
              </a:rPr>
              <a:t>Use the monthly trend to align staffing and shifts with peak-season months.</a:t>
            </a:r>
            <a:endParaRPr lang="en-US" sz="1150" dirty="0"/>
          </a:p>
        </p:txBody>
      </p:sp>
      <p:sp>
        <p:nvSpPr>
          <p:cNvPr id="36" name="Text 27"/>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6B5E5A"/>
                </a:solidFill>
                <a:latin typeface="Calibri" pitchFamily="34" charset="0"/>
                <a:ea typeface="Calibri" pitchFamily="34" charset="-122"/>
                <a:cs typeface="Calibri" pitchFamily="34" charset="-120"/>
              </a:rPr>
              <a:t>AutoDrive Motors Ltd.  |  Manufacturing Analytics</a:t>
            </a:r>
            <a:endParaRPr lang="en-US" sz="900" dirty="0"/>
          </a:p>
        </p:txBody>
      </p:sp>
      <p:sp>
        <p:nvSpPr>
          <p:cNvPr id="37"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5E5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C2323"/>
        </a:solidFill>
        <a:effectLst/>
      </p:bgPr>
    </p:bg>
    <p:spTree>
      <p:nvGrpSpPr>
        <p:cNvPr id="1" name=""/>
        <p:cNvGrpSpPr/>
        <p:nvPr/>
      </p:nvGrpSpPr>
      <p:grpSpPr>
        <a:xfrm>
          <a:off x="0" y="0"/>
          <a:ext cx="0" cy="0"/>
          <a:chOff x="0" y="0"/>
          <a:chExt cx="0" cy="0"/>
        </a:xfrm>
      </p:grpSpPr>
      <p:pic>
        <p:nvPicPr>
          <p:cNvPr id="2" name="Image 0" descr="/home/claude/build/icons/factory_darkred.png"/>
          <p:cNvPicPr>
            <a:picLocks noChangeAspect="1"/>
          </p:cNvPicPr>
          <p:nvPr/>
        </p:nvPicPr>
        <p:blipFill>
          <a:blip r:embed="rId3">
            <a:alphaModFix amt="45000"/>
          </a:blip>
          <a:stretch>
            <a:fillRect/>
          </a:stretch>
        </p:blipFill>
        <p:spPr>
          <a:xfrm>
            <a:off x="8321040" y="2971800"/>
            <a:ext cx="4114800" cy="4114800"/>
          </a:xfrm>
          <a:prstGeom prst="rect">
            <a:avLst/>
          </a:prstGeom>
        </p:spPr>
      </p:pic>
      <p:pic>
        <p:nvPicPr>
          <p:cNvPr id="3" name="Image 1" descr="/home/claude/build/icons/gears_darkred.png"/>
          <p:cNvPicPr>
            <a:picLocks noChangeAspect="1"/>
          </p:cNvPicPr>
          <p:nvPr/>
        </p:nvPicPr>
        <p:blipFill>
          <a:blip r:embed="rId4">
            <a:alphaModFix amt="45000"/>
          </a:blip>
          <a:stretch>
            <a:fillRect/>
          </a:stretch>
        </p:blipFill>
        <p:spPr>
          <a:xfrm rot="10800000">
            <a:off x="-123164" y="-114300"/>
            <a:ext cx="3474720" cy="3474720"/>
          </a:xfrm>
          <a:prstGeom prst="rect">
            <a:avLst/>
          </a:prstGeom>
        </p:spPr>
      </p:pic>
      <p:sp>
        <p:nvSpPr>
          <p:cNvPr id="4" name="Shape 0"/>
          <p:cNvSpPr/>
          <p:nvPr/>
        </p:nvSpPr>
        <p:spPr>
          <a:xfrm>
            <a:off x="640080" y="640080"/>
            <a:ext cx="822960" cy="822960"/>
          </a:xfrm>
          <a:prstGeom prst="ellipse">
            <a:avLst/>
          </a:prstGeom>
          <a:solidFill>
            <a:srgbClr val="7A2E2E"/>
          </a:solidFill>
          <a:ln/>
        </p:spPr>
      </p:sp>
      <p:pic>
        <p:nvPicPr>
          <p:cNvPr id="5" name="Image 2" descr="/home/claude/build/icons/checkered_white.png"/>
          <p:cNvPicPr>
            <a:picLocks noChangeAspect="1"/>
          </p:cNvPicPr>
          <p:nvPr/>
        </p:nvPicPr>
        <p:blipFill>
          <a:blip r:embed="rId5"/>
          <a:stretch>
            <a:fillRect/>
          </a:stretch>
        </p:blipFill>
        <p:spPr>
          <a:xfrm>
            <a:off x="795528" y="795528"/>
            <a:ext cx="512064" cy="512064"/>
          </a:xfrm>
          <a:prstGeom prst="rect">
            <a:avLst/>
          </a:prstGeom>
        </p:spPr>
      </p:pic>
      <p:sp>
        <p:nvSpPr>
          <p:cNvPr id="6" name="Text 1"/>
          <p:cNvSpPr/>
          <p:nvPr/>
        </p:nvSpPr>
        <p:spPr>
          <a:xfrm>
            <a:off x="640080" y="1828800"/>
            <a:ext cx="9144000" cy="365760"/>
          </a:xfrm>
          <a:prstGeom prst="rect">
            <a:avLst/>
          </a:prstGeom>
          <a:noFill/>
          <a:ln/>
        </p:spPr>
        <p:txBody>
          <a:bodyPr wrap="square" rtlCol="0" anchor="ctr"/>
          <a:lstStyle/>
          <a:p>
            <a:pPr marL="0" indent="0">
              <a:buNone/>
            </a:pPr>
            <a:r>
              <a:rPr lang="en-US" sz="1400" b="1" kern="0" spc="300" dirty="0">
                <a:solidFill>
                  <a:srgbClr val="E9C9C2"/>
                </a:solidFill>
                <a:latin typeface="Calibri" pitchFamily="34" charset="0"/>
                <a:ea typeface="Calibri" pitchFamily="34" charset="-122"/>
                <a:cs typeface="Calibri" pitchFamily="34" charset="-120"/>
              </a:rPr>
              <a:t>CONCLUSION</a:t>
            </a:r>
            <a:endParaRPr lang="en-US" sz="1400" dirty="0"/>
          </a:p>
        </p:txBody>
      </p:sp>
      <p:sp>
        <p:nvSpPr>
          <p:cNvPr id="7" name="Text 2"/>
          <p:cNvSpPr/>
          <p:nvPr/>
        </p:nvSpPr>
        <p:spPr>
          <a:xfrm>
            <a:off x="640080" y="2194560"/>
            <a:ext cx="10058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Data-Driven Manufacturing Wins</a:t>
            </a:r>
            <a:endParaRPr lang="en-US" sz="3400" dirty="0"/>
          </a:p>
        </p:txBody>
      </p:sp>
      <p:sp>
        <p:nvSpPr>
          <p:cNvPr id="8" name="Text 3"/>
          <p:cNvSpPr/>
          <p:nvPr/>
        </p:nvSpPr>
        <p:spPr>
          <a:xfrm>
            <a:off x="640080" y="3108960"/>
            <a:ext cx="9875520" cy="1463040"/>
          </a:xfrm>
          <a:prstGeom prst="rect">
            <a:avLst/>
          </a:prstGeom>
          <a:noFill/>
          <a:ln/>
        </p:spPr>
        <p:txBody>
          <a:bodyPr wrap="square" rtlCol="0" anchor="t"/>
          <a:lstStyle/>
          <a:p>
            <a:pPr marL="0" indent="0">
              <a:lnSpc>
                <a:spcPct val="125000"/>
              </a:lnSpc>
              <a:buNone/>
            </a:pPr>
            <a:r>
              <a:rPr lang="en-US" sz="1500" dirty="0">
                <a:solidFill>
                  <a:srgbClr val="F5EAE7"/>
                </a:solidFill>
                <a:latin typeface="Calibri" pitchFamily="34" charset="0"/>
                <a:ea typeface="Calibri" pitchFamily="34" charset="-122"/>
                <a:cs typeface="Calibri" pitchFamily="34" charset="-120"/>
              </a:rPr>
              <a:t>This analysis covered data preparation, EDA, plant-wise performance, PV vs CV comparison, quality assessment and production trends for AutoDrive Motors Ltd. Plant A stands out as the manufacturing benchmark, and Passenger Vehicles as the stronger category — together pointing to clear, practical opportunities to cut defects, lift efficiency, and grow sales.</a:t>
            </a:r>
            <a:endParaRPr lang="en-US" sz="1500" dirty="0"/>
          </a:p>
        </p:txBody>
      </p:sp>
      <p:sp>
        <p:nvSpPr>
          <p:cNvPr id="9" name="Shape 4"/>
          <p:cNvSpPr/>
          <p:nvPr/>
        </p:nvSpPr>
        <p:spPr>
          <a:xfrm>
            <a:off x="640080" y="4846320"/>
            <a:ext cx="2926080" cy="0"/>
          </a:xfrm>
          <a:prstGeom prst="line">
            <a:avLst/>
          </a:prstGeom>
          <a:noFill/>
          <a:ln w="19050">
            <a:solidFill>
              <a:srgbClr val="E9C9C2"/>
            </a:solidFill>
            <a:prstDash val="solid"/>
          </a:ln>
        </p:spPr>
      </p:sp>
      <p:sp>
        <p:nvSpPr>
          <p:cNvPr id="10" name="Text 5"/>
          <p:cNvSpPr/>
          <p:nvPr/>
        </p:nvSpPr>
        <p:spPr>
          <a:xfrm>
            <a:off x="640080" y="5029200"/>
            <a:ext cx="54864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11" name="Text 6"/>
          <p:cNvSpPr/>
          <p:nvPr/>
        </p:nvSpPr>
        <p:spPr>
          <a:xfrm>
            <a:off x="640080" y="5623560"/>
            <a:ext cx="8229600" cy="365760"/>
          </a:xfrm>
          <a:prstGeom prst="rect">
            <a:avLst/>
          </a:prstGeom>
          <a:noFill/>
          <a:ln/>
        </p:spPr>
        <p:txBody>
          <a:bodyPr wrap="square" rtlCol="0" anchor="ctr"/>
          <a:lstStyle/>
          <a:p>
            <a:pPr marL="0" indent="0">
              <a:buNone/>
            </a:pPr>
            <a:r>
              <a:rPr lang="en-US" sz="1250" dirty="0">
                <a:solidFill>
                  <a:srgbClr val="E9C9C2"/>
                </a:solidFill>
                <a:latin typeface="Calibri" pitchFamily="34" charset="0"/>
                <a:ea typeface="Calibri" pitchFamily="34" charset="-122"/>
                <a:cs typeface="Calibri" pitchFamily="34" charset="-120"/>
              </a:rPr>
              <a:t>Mohammed Abdulla  |  PGDM – Business Analytics, ISME Bangalore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1648</Words>
  <Application>Microsoft Office PowerPoint</Application>
  <PresentationFormat>Widescreen</PresentationFormat>
  <Paragraphs>207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Korlakunta Mohammed Tajamulla Abdulla Khan</cp:lastModifiedBy>
  <cp:revision>3</cp:revision>
  <dcterms:created xsi:type="dcterms:W3CDTF">2026-08-06T05:20:41Z</dcterms:created>
  <dcterms:modified xsi:type="dcterms:W3CDTF">2026-08-06T15:55:41Z</dcterms:modified>
</cp:coreProperties>
</file>